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afternoon, Professor Idar and classmates. Welcome to our Midterm Project presentation for CIS 2368. Today, our team presents Cardinal Market, an interactive 5-page sandbox e-commerce website designed specifically for University of the Incarnate Word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Cardinal Market provides a localized, student-centric marketplace. Because trades happen on campus at designated safe spots like Mabee Library or the SEC, students enjoy immediate, secure exchanges with fellow Cardinals.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visualizes the full 5-page structure of Cardinal Market. The syllabus required a 3-5+ page working website with full navigation. We delivered 5 complete, interconnected pages with shared navigation and active page highlighting.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key requirement of the midterm project rubric is: 'Show modified examples of code given in class.' This table directly details how our sandbox site honors that requirement across all 5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on the Home Page, owned by Isabella Gomez, you can see how we welcome visitors with our Cardinal red hero banner and a dynamic time-of-day greeting calculated from visitor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Browse page, owned by Nathan Ortiz, students can search and filter the entire campus inventory in real time using Array.filter() and save items with the heart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Item Detail page, created by Maria Frausto, provides an in-depth view of any selected campus listing using URL parameters, interactive photo thumbnail switcher, and seller messaging 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Sell page, designed by Sophia Gomez, students can post their own items for sale with real-time live preview, file photo upload, and an exciting 150-particle Cardinal confetti 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Account Dashboard, also created by Isabella Gomez, ties the entire sandbox website experience together with student profile management, event delegation on listings, and message inbox.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5% oral explanation portion, this slide summarizes the foundational web development principles powering our sandbox site across semantic HTML5, modern CSS3 with CSS variables, and event-driven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Now, we will conduct the live demo of our Sandbox Website following this 5-step user journey from landing on Home to filtering, viewing details, posting an item, and verifying the Account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very much, Professor Idar and classmates, for your time and feedback. We are now happy to answer any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457200"/>
          <a:lstStyle/>
          <a:p>
            <a:pPr algn="ctr">
              <a:defRPr sz="1400" b="1">
                <a:solidFill>
                  <a:srgbClr val="800000"/>
                </a:solidFill>
              </a:defRPr>
            </a:pPr>
            <a:r>
              <a:t>CIS 2368.01 Website Development I • Midterm Project (40%)</a:t>
            </a:r>
          </a:p>
          <a:p>
            <a:pPr>
              <a:spcBef>
                <a:spcPts val="600"/>
              </a:spcBef>
              <a:defRPr sz="4000" b="1">
                <a:solidFill>
                  <a:srgbClr val="C8102E"/>
                </a:solidFill>
              </a:defRPr>
            </a:pPr>
            <a:r>
              <a:t>Cardinal Market</a:t>
            </a:r>
          </a:p>
          <a:p>
            <a:pPr>
              <a:spcBef>
                <a:spcPts val="400"/>
              </a:spcBef>
              <a:defRPr sz="2000">
                <a:solidFill>
                  <a:srgbClr val="1C1C1C"/>
                </a:solidFill>
              </a:defRPr>
            </a:pPr>
            <a:r>
              <a:t>UIW Campus Student Ecommerce Sandbox Website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A 5-page responsive student marketplace featuring peer-to-peer campus trading, verified UIW safe meetup zones, live item preview, interactive catalog filtering, and student account dashboard.</a:t>
            </a:r>
          </a:p>
          <a:p>
            <a:pPr>
              <a:spcBef>
                <a:spcPts val="2000"/>
              </a:spcBef>
              <a:defRPr sz="1350" b="1">
                <a:solidFill>
                  <a:srgbClr val="1C1C1C"/>
                </a:solidFill>
              </a:defRPr>
            </a:pPr>
            <a:r>
              <a:t>Team Members &amp; Page Ownership:</a:t>
            </a:r>
          </a:p>
          <a:p>
            <a:pPr>
              <a:spcBef>
                <a:spcPts val="600"/>
              </a:spcBef>
              <a:defRPr sz="1100">
                <a:solidFill>
                  <a:srgbClr val="1C1C1C"/>
                </a:solidFill>
              </a:defRPr>
            </a:pPr>
            <a:r>
              <a:t>• Isabella Gomez: index.html (Home) &amp; account.html (Account) | css/isabella.css &amp; js/isabella.js</a:t>
            </a:r>
            <a:br/>
            <a:r>
              <a:t>• Nathan Ortiz: listings.html (Browse Marketplace) | css/nathan.css &amp; js/nathan.js</a:t>
            </a:r>
            <a:br/>
            <a:r>
              <a:t>• Maria Frausto: item.html (Item Details &amp; Messaging) | css/maria.css &amp; js/maria.js</a:t>
            </a:r>
            <a:br/>
            <a:r>
              <a:t>• Sophia Gomez: sell.html (Sell Form &amp; Live Preview) | css/sophia.css &amp; js/sophia.js</a:t>
            </a:r>
            <a:br/>
            <a:r>
              <a:t>• Shared Architecture: css/main.css, js/main.js | Course: CIS 2368 • Professor: Prof. Idar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Overview &amp; Mission: Facebook Marketplace for UIW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800000"/>
                </a:solidFill>
              </a:defRPr>
            </a:pPr>
            <a:r>
              <a:t>The Student Challenge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High Textbook Costs: College bookstore prices and online retail markups strain student budgets.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Dorm Move-in Waste: Students frequently need dorm fridges, lamps, and chairs, but lack an easy campus swap channel.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Off-Campus Safety Concerns: Selling on general platforms involves meeting strangers in non-secure locations.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34256" y="1371600"/>
            <a:ext cx="3328416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C8102E"/>
                </a:solidFill>
              </a:defRPr>
            </a:pPr>
            <a:r>
              <a:t>The Cardinal Solution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UIW-Exclusive Community: Created specifically for Incarnate Word students, faculty, and campus organizations.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Verified Safe Exchange Zones: Recommends public, well-lit campus hubs (Mabee Library &amp; Student Center).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Zero Transaction Fees: 100% peer-to-peer student savings with zero intermediary platform cuts.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36992" y="1371600"/>
            <a:ext cx="3328416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1C1C1C"/>
                </a:solidFill>
              </a:defRPr>
            </a:pPr>
            <a:r>
              <a:t>Design Criteria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100% Vanilla Web Standards: Built purely in semantic HTML5, modern CSS3 (Grid/Flexbox), and vanilla JavaScript ES6.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Fully Responsive &amp; Accessible: Adapts seamlessly across desktop, tablet, and mobile with ARIA landmarks.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Inter-Page Data Sync: Client-side persistence using localStorage unites listings, saved items, and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Site Architecture &amp; 5-Page Navigation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/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1. Home (index.html)  —  Owner: Isabella Gomez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Landing banner with dynamic greeting based on visitor time of day, quick category tiles, and array-driven featured cards.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13432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/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2. Browse (listings.html)  —  Owner: Nathan Ortiz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Comprehensive marketplace catalog with live search query matching, category dropdown filters, price sorting, and dynamic card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46704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/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3. Item Detail (item.html)  —  Owner: Maria Frausto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Deep product inspection with URL parameter loading (?id=...), interactive thumbnail photo switcher, seller profile, and messaging modal.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79976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/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4. Sell Form (sell.html)  —  Owner: Sophia Gomez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Reactive seller posting form with instant live preview, HTML5 file upload reader, validation, and a 150-particle Cardinal confetti celebration.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13248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/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5. Account (account.html)  —  Owner: Isabella Gomez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Personalized student dashboard allowing profile name editing, active listing management, saved favorites, and simulated message threads.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Modified Examples of Class Code (Rubric Criterion)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926080" cy="41148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Class Lesson / Code Given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280160"/>
            <a:ext cx="3657600" cy="41148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Original Concept in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280160"/>
            <a:ext cx="4114800" cy="41148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Cardinal Market Enhanced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9260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800000"/>
                </a:solidFill>
              </a:defRPr>
            </a:pPr>
            <a:r>
              <a:t>JS/script.js &amp; hw8</a:t>
            </a:r>
            <a:br/>
            <a:r>
              <a:t>Conditionals &amp; Greeting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737360"/>
            <a:ext cx="36576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>
                <a:solidFill>
                  <a:srgbClr val="1C1C1C"/>
                </a:solidFill>
              </a:defRPr>
            </a:pPr>
            <a:r>
              <a:t>Static window.onload greeting:</a:t>
            </a:r>
            <a:br/>
            <a:r>
              <a:t>welcomeMsg.style.color = "#800000";</a:t>
            </a:r>
            <a:br/>
            <a:r>
              <a:t>Simple role check ("student"/"faculty").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737360"/>
            <a:ext cx="41148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>
                <a:solidFill>
                  <a:srgbClr val="1C1C1C"/>
                </a:solidFill>
              </a:defRPr>
            </a:pPr>
            <a:r>
              <a:t>Dynamic time-of-day greeting (morning/afternoon/evening) calculated via Date().getHours(). Responsive gold font over Cardinal red hero banner.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87168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800000"/>
                </a:solidFill>
              </a:defRPr>
            </a:pPr>
            <a:r>
              <a:t>hw4 &amp; inputOutput.html</a:t>
            </a:r>
            <a:br/>
            <a:r>
              <a:t>Form Handling &amp;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487168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>
                <a:solidFill>
                  <a:srgbClr val="1C1C1C"/>
                </a:solidFill>
              </a:defRPr>
            </a:pPr>
            <a:r>
              <a:t>Basic form inputs (text, number, radio) with standard submit or button calculating total.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48716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>
                <a:solidFill>
                  <a:srgbClr val="1C1C1C"/>
                </a:solidFill>
              </a:defRPr>
            </a:pPr>
            <a:r>
              <a:t>Real-time two-way data binding in sell.html: input/change events update listing preview live; validates price &gt;= 0 and file MIME 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36976"/>
            <a:ext cx="29260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800000"/>
                </a:solidFill>
              </a:defRPr>
            </a:pPr>
            <a:r>
              <a:t>hw7 &amp; hw8</a:t>
            </a:r>
            <a:br/>
            <a:r>
              <a:t>DOM &amp; Arrays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236976"/>
            <a:ext cx="36576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>
                <a:solidFill>
                  <a:srgbClr val="1C1C1C"/>
                </a:solidFill>
              </a:defRPr>
            </a:pPr>
            <a:r>
              <a:t>Basic document.write() and simple loops over arrays printing lists.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236976"/>
            <a:ext cx="41148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>
                <a:solidFill>
                  <a:srgbClr val="1C1C1C"/>
                </a:solidFill>
              </a:defRPr>
            </a:pPr>
            <a:r>
              <a:t>Array of item objects dynamically rendered into CSS Grid cards using createElement and appendChild; query-driven filter() and sorting.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86784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800000"/>
                </a:solidFill>
              </a:defRPr>
            </a:pPr>
            <a:r>
              <a:t>hw5 &amp; hw6</a:t>
            </a:r>
            <a:br/>
            <a:r>
              <a:t>CSS Layouts &amp; Box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986784"/>
            <a:ext cx="3657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>
                <a:solidFill>
                  <a:srgbClr val="1C1C1C"/>
                </a:solidFill>
              </a:defRPr>
            </a:pPr>
            <a:r>
              <a:t>Fixed widths, floats, inline styles, basic padding/margin box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98678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>
                <a:solidFill>
                  <a:srgbClr val="1C1C1C"/>
                </a:solidFill>
              </a:defRPr>
            </a:pPr>
            <a:r>
              <a:t>Modern CSS Grid (repeat(auto-fill, minmax(240px, 1fr))), Flexbox alignment, CSS Custom Variables (:root), and mobile media queries.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36592"/>
            <a:ext cx="29260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800000"/>
                </a:solidFill>
              </a:defRPr>
            </a:pPr>
            <a:r>
              <a:t>hw3 &amp; hw7</a:t>
            </a:r>
            <a:br/>
            <a:r>
              <a:t>Interactivity &amp; Events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4736592"/>
            <a:ext cx="36576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>
                <a:solidFill>
                  <a:srgbClr val="1C1C1C"/>
                </a:solidFill>
              </a:defRPr>
            </a:pPr>
            <a:r>
              <a:t>Single onclick alerts and static table layouts.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736592"/>
            <a:ext cx="41148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>
                <a:solidFill>
                  <a:srgbClr val="1C1C1C"/>
                </a:solidFill>
              </a:defRPr>
            </a:pPr>
            <a:r>
              <a:t>Interactive modal dialog with character counter, thumbnail photo switcher, and localStorage persistence across all pages.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Home Page (index.html) — Isabella Gomez</a:t>
            </a:r>
          </a:p>
        </p:txBody>
      </p:sp>
      <p:pic>
        <p:nvPicPr>
          <p:cNvPr id="3" name="Picture 2" descr="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408631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C8102E"/>
                </a:solidFill>
              </a:defRPr>
            </a:pPr>
            <a:r>
              <a:t>Key Features &amp; Code Architecture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Dynamic Greeting (script.js): Inspects current hour with new Date().getHours() and renders custom morning, afternoon, or evening welcome message.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Interactive Onboarding Alert: showMarketplaceInfo() gives first-time visitors a 4-step quick guide modal.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Category Quick-Nav Grid: CSS Grid with repeat(auto-fit, minmax(160px, 1fr)) and smooth hover elevations.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Array-Driven Featured Cards: Dynamic generation using forEach to create cards linked directly to item.html?id=...</a:t>
            </a:r>
          </a:p>
          <a:p>
            <a:pPr>
              <a:spcBef>
                <a:spcPts val="1400"/>
              </a:spcBef>
              <a:defRPr sz="1100" b="1">
                <a:solidFill>
                  <a:srgbClr val="800000"/>
                </a:solidFill>
              </a:defRPr>
            </a:pPr>
            <a:r>
              <a:t>Modified Class Code (isabella.js):</a:t>
            </a:r>
          </a:p>
          <a:p>
            <a:pPr>
              <a:defRPr sz="850">
                <a:solidFill>
                  <a:srgbClr val="1C1C1C"/>
                </a:solidFill>
                <a:latin typeface="Consolas"/>
              </a:defRPr>
            </a:pPr>
            <a:r>
              <a:t>// Modified from class script.js greeting</a:t>
            </a:r>
            <a:br/>
            <a:r>
              <a:t>window.onload = function() {</a:t>
            </a:r>
            <a:br/>
            <a:r>
              <a:t>  var msg = document.getElementById("welcome-msg");</a:t>
            </a:r>
            <a:br/>
            <a:r>
              <a:t>  if (msg) {</a:t>
            </a:r>
            <a:br/>
            <a:r>
              <a:t>    var h = new Date().getHours();</a:t>
            </a:r>
            <a:br/>
            <a:r>
              <a:t>    var g = (h &lt; 12) ? "Good morning, Cardinal!"</a:t>
            </a:r>
            <a:br/>
            <a:r>
              <a:t>          : (h &lt; 18) ? "Good afternoon, Cardinal!"</a:t>
            </a:r>
            <a:br/>
            <a:r>
              <a:t>          : "Good evening, Cardinal!";</a:t>
            </a:r>
            <a:br/>
            <a:r>
              <a:t>    msg.textContent = g + " Welcome to Cardinal Market.";</a:t>
            </a:r>
            <a:br/>
            <a:r>
              <a:t>    msg.style.color = "#ffd166"; // UIW Gold</a:t>
            </a:r>
            <a:br/>
            <a:r>
              <a:t>  }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Browse Marketplace (listings.html) — Nathan Ortiz</a:t>
            </a:r>
          </a:p>
        </p:txBody>
      </p:sp>
      <p:pic>
        <p:nvPicPr>
          <p:cNvPr id="3" name="Picture 2" descr="brows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408631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C8102E"/>
                </a:solidFill>
              </a:defRPr>
            </a:pPr>
            <a:r>
              <a:t>Reactive Catalog &amp; Filter Logic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Real-time Search Bar: Listens to input events to instantly filter titles, descriptions, and sellers.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Multi-criteria Filtering: Combines category dropdown (Textbooks, Dorm, Clothing, Other) with text matching.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Sorting Engine: Supports price low-to-high, high-to-low, and alphabetical sorting via Array.sort().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Interactive Favorite Heart: Toggles saved item status and synchronizes with localStorage for the Account page.</a:t>
            </a:r>
          </a:p>
          <a:p>
            <a:pPr>
              <a:spcBef>
                <a:spcPts val="1400"/>
              </a:spcBef>
              <a:defRPr sz="1100" b="1">
                <a:solidFill>
                  <a:srgbClr val="800000"/>
                </a:solidFill>
              </a:defRPr>
            </a:pPr>
            <a:r>
              <a:t>Modified Class Code (nathan.js):</a:t>
            </a:r>
          </a:p>
          <a:p>
            <a:pPr>
              <a:defRPr sz="850">
                <a:solidFill>
                  <a:srgbClr val="1C1C1C"/>
                </a:solidFill>
                <a:latin typeface="Consolas"/>
              </a:defRPr>
            </a:pPr>
            <a:r>
              <a:t>// Real-time multi-criteria filtering</a:t>
            </a:r>
            <a:br/>
            <a:r>
              <a:t>function applyFilters() {</a:t>
            </a:r>
            <a:br/>
            <a:r>
              <a:t>  var q = searchInput.value.toLowerCase().trim();</a:t>
            </a:r>
            <a:br/>
            <a:r>
              <a:t>  var cat = categorySelect.value;</a:t>
            </a:r>
            <a:br/>
            <a:r>
              <a:t>  var filtered = allListings.filter(function(item) {</a:t>
            </a:r>
            <a:br/>
            <a:r>
              <a:t>    var matchCat = (cat === "all") || (item.category === cat);</a:t>
            </a:r>
            <a:br/>
            <a:r>
              <a:t>    var matchSearch = (q === "") || </a:t>
            </a:r>
            <a:br/>
            <a:r>
              <a:t>      item.title.toLowerCase().includes(q) ||</a:t>
            </a:r>
            <a:br/>
            <a:r>
              <a:t>      item.desc.toLowerCase().includes(q);</a:t>
            </a:r>
            <a:br/>
            <a:r>
              <a:t>    return matchCat &amp;&amp; matchSearch;</a:t>
            </a:r>
            <a:br/>
            <a:r>
              <a:t>  });</a:t>
            </a:r>
            <a:br/>
            <a:r>
              <a:t>  renderListings(filtered);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Item Detail &amp; Messaging (item.html) — Maria Frausto</a:t>
            </a:r>
          </a:p>
        </p:txBody>
      </p:sp>
      <p:pic>
        <p:nvPicPr>
          <p:cNvPr id="3" name="Picture 2" descr="item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408631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C8102E"/>
                </a:solidFill>
              </a:defRPr>
            </a:pPr>
            <a:r>
              <a:t>Inspection, Safety &amp; Messaging Features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Dynamic URL Loading: Uses URLSearchParams(window.location.search) to load the item corresponding to ?id=textbook, ?id=bike, etc.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Interactive Thumbnail Switcher: Clickable gallery thumbnails update the main picture with smooth opacity transitions.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UIW Safe Exchange Zone Banner: Educates students on safe campus trading locations (Mabee Library &amp; SEC).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Interactive Messaging Modal: Popup dialog with live character counter; sends inquiries directly to the Account message thread.</a:t>
            </a:r>
          </a:p>
          <a:p>
            <a:pPr>
              <a:spcBef>
                <a:spcPts val="1400"/>
              </a:spcBef>
              <a:defRPr sz="1100" b="1">
                <a:solidFill>
                  <a:srgbClr val="800000"/>
                </a:solidFill>
              </a:defRPr>
            </a:pPr>
            <a:r>
              <a:t>Modified Class Code (maria.js):</a:t>
            </a:r>
          </a:p>
          <a:p>
            <a:pPr>
              <a:defRPr sz="850">
                <a:solidFill>
                  <a:srgbClr val="1C1C1C"/>
                </a:solidFill>
                <a:latin typeface="Consolas"/>
              </a:defRPr>
            </a:pPr>
            <a:r>
              <a:t>// Dynamic URL routing &amp; thumbnail switcher</a:t>
            </a:r>
            <a:br/>
            <a:r>
              <a:t>var params = new URLSearchParams(window.location.search);</a:t>
            </a:r>
            <a:br/>
            <a:r>
              <a:t>var itemId = params.get("id") || "textbook";</a:t>
            </a:r>
            <a:br/>
            <a:r>
              <a:t>var currentItem = itemCatalog[itemId];</a:t>
            </a:r>
            <a:br/>
            <a:br/>
            <a:r>
              <a:t>thumbBtn.addEventListener("click", function() {</a:t>
            </a:r>
            <a:br/>
            <a:r>
              <a:t>  mainImg.style.opacity = "0.4";</a:t>
            </a:r>
            <a:br/>
            <a:r>
              <a:t>  setTimeout(function() {</a:t>
            </a:r>
            <a:br/>
            <a:r>
              <a:t>    mainImg.src = thumbSrc;</a:t>
            </a:r>
            <a:br/>
            <a:r>
              <a:t>    mainImg.style.opacity = "1";</a:t>
            </a:r>
            <a:br/>
            <a:r>
              <a:t>  }, 150);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Sell Form &amp; Live Preview (sell.html) — Sophia Gomez</a:t>
            </a:r>
          </a:p>
        </p:txBody>
      </p:sp>
      <p:pic>
        <p:nvPicPr>
          <p:cNvPr id="3" name="Picture 2" descr="sel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408631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C8102E"/>
                </a:solidFill>
              </a:defRPr>
            </a:pPr>
            <a:r>
              <a:t>Form Engineering &amp; Celebration Physics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Live Form Preview (hw4): Typing in the title, price, category, or condition updates the preview card instantly in real time.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HTML5 File API Image Upload: URL.createObjectURL(file) displays local photos immediately before submission.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Form Validation: Requires positive price values and non-empty titles with helpful error prompts.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Sophia Confetti Engine: Generates 150 celebratory particles in UIW colors with randomized CSS variables.</a:t>
            </a:r>
          </a:p>
          <a:p>
            <a:pPr>
              <a:spcBef>
                <a:spcPts val="1400"/>
              </a:spcBef>
              <a:defRPr sz="1100" b="1">
                <a:solidFill>
                  <a:srgbClr val="800000"/>
                </a:solidFill>
              </a:defRPr>
            </a:pPr>
            <a:r>
              <a:t>Modified Class Code (sophia.js):</a:t>
            </a:r>
          </a:p>
          <a:p>
            <a:pPr>
              <a:defRPr sz="850">
                <a:solidFill>
                  <a:srgbClr val="1C1C1C"/>
                </a:solidFill>
                <a:latin typeface="Consolas"/>
              </a:defRPr>
            </a:pPr>
            <a:r>
              <a:t>// Live reactive preview binding</a:t>
            </a:r>
            <a:br/>
            <a:r>
              <a:t>titleInput.addEventListener("input", updateListingPreview);</a:t>
            </a:r>
            <a:br/>
            <a:r>
              <a:t>priceInput.addEventListener("input", function() {</a:t>
            </a:r>
            <a:br/>
            <a:r>
              <a:t>  var p = Number(priceInput.value);</a:t>
            </a:r>
            <a:br/>
            <a:r>
              <a:t>  previewPrice.textContent = (p &gt;= 0) </a:t>
            </a:r>
            <a:br/>
            <a:r>
              <a:t>    ? p.toLocaleString("en-US", {style:"currency", currency:"USD"}) </a:t>
            </a:r>
            <a:br/>
            <a:r>
              <a:t>    : "$0.00";</a:t>
            </a:r>
            <a:br/>
            <a:r>
              <a:t>});</a:t>
            </a:r>
            <a:br/>
            <a:r>
              <a:t>// 150-particle randomized Cardinal confetti on publish</a:t>
            </a:r>
            <a:br/>
            <a:r>
              <a:t>launchConfetti();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Account Dashboard (account.html) — Isabella Gomez</a:t>
            </a:r>
          </a:p>
        </p:txBody>
      </p:sp>
      <p:pic>
        <p:nvPicPr>
          <p:cNvPr id="3" name="Picture 2" descr="accoun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303520" cy="408631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C8102E"/>
                </a:solidFill>
              </a:defRPr>
            </a:pPr>
            <a:r>
              <a:t>Dashboard Management &amp; State Sync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Profile Name Customization: Allows editing student name with prompt() and persists across page reloads via localStorage.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Active Listings Management: Students can add listings inline or remove active ones with smooth fade-out CSS transitions.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Event Delegation (hw7): A single listener on the parent &lt;ul&gt; handles remove clicks on both existing and newly added items.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Cross-Page Synchronization: Automatically displays saved favorites from Browse and messages sent from the Item Detail page.</a:t>
            </a:r>
          </a:p>
          <a:p>
            <a:pPr>
              <a:spcBef>
                <a:spcPts val="1400"/>
              </a:spcBef>
              <a:defRPr sz="1100" b="1">
                <a:solidFill>
                  <a:srgbClr val="800000"/>
                </a:solidFill>
              </a:defRPr>
            </a:pPr>
            <a:r>
              <a:t>Modified Class Code (isabella.js):</a:t>
            </a:r>
          </a:p>
          <a:p>
            <a:pPr>
              <a:defRPr sz="850">
                <a:solidFill>
                  <a:srgbClr val="1C1C1C"/>
                </a:solidFill>
                <a:latin typeface="Consolas"/>
              </a:defRPr>
            </a:pPr>
            <a:r>
              <a:t>// Event delegation for dynamic remove buttons</a:t>
            </a:r>
            <a:br/>
            <a:r>
              <a:t>myListings.addEventListener("click", function(e) {</a:t>
            </a:r>
            <a:br/>
            <a:r>
              <a:t>  if (e.target.classList.contains("remove-btn")) {</a:t>
            </a:r>
            <a:br/>
            <a:r>
              <a:t>    var row = e.target.closest("li");</a:t>
            </a:r>
            <a:br/>
            <a:r>
              <a:t>    if (confirm("Remove this listing?")) {</a:t>
            </a:r>
            <a:br/>
            <a:r>
              <a:t>      row.classList.add("fading");</a:t>
            </a:r>
            <a:br/>
            <a:r>
              <a:t>      setTimeout(function() { row.remove(); updateListingCount(); }, 300);</a:t>
            </a:r>
            <a:br/>
            <a:r>
              <a:t>    }</a:t>
            </a:r>
            <a:br/>
            <a:r>
              <a:t>  }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Technical Implementation Breakdown (5% Oral Defense)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C8102E"/>
                </a:solidFill>
              </a:defRPr>
            </a:pPr>
            <a:r>
              <a:t>HTML5 Structure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Semantic Tags: Replaced generic &lt;div&gt; wrappers with &lt;header&gt;, &lt;nav&gt;, &lt;main&gt;, &lt;section&gt;, &lt;article&gt;, &lt;aside&gt;, and &lt;footer&gt;.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Accessible Forms: Clean &lt;label for=...&gt; associations, ARIA roles (role=dialog, aria-live=polite, aria-modal=true).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SEO &amp; Meta Tags: Viewport configuration, UTF-8 charset, descriptive page titles, and image alt text throughout.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34256" y="1371600"/>
            <a:ext cx="3328416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800000"/>
                </a:solidFill>
              </a:defRPr>
            </a:pPr>
            <a:r>
              <a:t>CSS3 Architecture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Three-Tier Hierarchy: External shared (main.css) + External student files (nathan.css, maria.css, etc.) + Internal &lt;style&gt;.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CSS Custom Properties: Centralized :root variables (--cardinal, --cardinal-dark, --light, --dark) for consistent theming.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Modern Responsive Layouts: CSS Grid with auto-fill/minmax and Flexbox. Responsive media queries at 768px and 820px breakpoints.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36992" y="1371600"/>
            <a:ext cx="3328416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1C1C1C"/>
                </a:solidFill>
              </a:defRPr>
            </a:pPr>
            <a:r>
              <a:t>JavaScript Engine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DOM Manipulation: Element selection via getElementById and querySelectorAll; creation via createElement and appendChild.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Event Architecture: Reactive listeners for input, change, click, keydown, and window load events.</a:t>
            </a:r>
          </a:p>
          <a:p>
            <a:pPr>
              <a:spcBef>
                <a:spcPts val="1400"/>
              </a:spcBef>
              <a:defRPr sz="1100">
                <a:solidFill>
                  <a:srgbClr val="1C1C1C"/>
                </a:solidFill>
              </a:defRPr>
            </a:pPr>
            <a:r>
              <a:t>• State &amp; Persistence: localStorage synchronization for custom listings, user favorites, and seller messages.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Live Sandbox Demo Walkthrough Guide (Step-by-Step)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/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Step 1: Landing on Home (index.html)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Open the home page. Observe the greeting change according to the current time of day. Click How it works to view onboarding alert modal, then explore the featured cards.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13432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Step 2: Browsing &amp; Filtering (listings.html)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Click Browse in the nav. Type lamp in the search box to watch instant real-time filtering. Change category dropdown to Textbooks, sort by price, and click the heart icon on a card to save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46704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/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Step 3: Item Detail &amp; Messaging (item.html)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Click View Item on the Biology textbook. Click different gallery thumbnails to watch the main photo swap with smooth opacity. Click Message Seller to open modal dialog and send a campus inquiry.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79976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Step 4: Posting a New Listing (sell.html)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Click Sell in the nav. Fill out an item title and price. Notice the live listing preview updating keystroke-by-keystroke. Click Preview My Listing to launch Sophia 150-particle confetti animation.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13248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28016"/>
          <a:lstStyle/>
          <a:p>
            <a:pPr algn="ctr">
              <a:defRPr sz="1300" b="1">
                <a:solidFill>
                  <a:srgbClr val="C8102E"/>
                </a:solidFill>
              </a:defRPr>
            </a:pPr>
            <a:r>
              <a:t>Step 5: Account Dashboard Verification (account.html)</a:t>
            </a:r>
          </a:p>
          <a:p>
            <a:pPr>
              <a:spcBef>
                <a:spcPts val="300"/>
              </a:spcBef>
              <a:defRPr sz="1100">
                <a:solidFill>
                  <a:srgbClr val="1C1C1C"/>
                </a:solidFill>
              </a:defRPr>
            </a:pPr>
            <a:r>
              <a:t>Click Account in the nav. Click Edit Name to change your student name. Verify that your newly published listing, favorited items, and sent seller message appear in the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FFD166"/>
                </a:solidFill>
              </a:defRPr>
            </a:pPr>
            <a:r>
              <a:t>CIS 2368 MIDTERM PROJECT - SANDBOX WEBSITE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Team Contributions, Learnings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C8102E"/>
                </a:solidFill>
              </a:defRPr>
            </a:pPr>
            <a:r>
              <a:t>Team Division of Labor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Isabella Gomez: index.html &amp; account.html | isabella.css &amp; isabella.js. Built greeting, category navigation, dashboard management, and list delegation.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Nathan Ortiz: listings.html | nathan.css &amp; nathan.js. Built catalog search engine, category filter logic, sorting algorithms, and favorite persistence.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Maria Frausto: item.html | maria.css &amp; maria.js. Built URL parameter routing, photo thumbnail switcher, campus safety guide, and messaging modal.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Sophia Gomez: sell.html | sophia.css &amp; sophia.js. Built reactive listing form, live preview data binding, File API reader, and confetti celebration.</a:t>
            </a:r>
          </a:p>
          <a:p>
            <a:pPr>
              <a:spcBef>
                <a:spcPts val="800"/>
              </a:spcBef>
              <a:defRPr sz="1050">
                <a:solidFill>
                  <a:srgbClr val="1C1C1C"/>
                </a:solidFill>
              </a:defRPr>
            </a:pPr>
            <a:r>
              <a:t>• Shared Architecture: main.css &amp; main.js. Developed core design tokens, header/footer navigation, active link tracking, and GitHub repo coordination.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3035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800000"/>
                </a:solidFill>
              </a:defRPr>
            </a:pPr>
            <a:r>
              <a:t>Key Learnings &amp; Future Roadmap</a:t>
            </a:r>
          </a:p>
          <a:p>
            <a:pPr>
              <a:spcBef>
                <a:spcPts val="1000"/>
              </a:spcBef>
              <a:defRPr sz="1050">
                <a:solidFill>
                  <a:srgbClr val="1C1C1C"/>
                </a:solidFill>
              </a:defRPr>
            </a:pPr>
            <a:r>
              <a:t>• Version Control Collaboration: Coordinating Git branching (isabella-work, sophia-work, main) and resolving merge conflicts taught us professional team development.</a:t>
            </a:r>
          </a:p>
          <a:p>
            <a:pPr>
              <a:spcBef>
                <a:spcPts val="1000"/>
              </a:spcBef>
              <a:defRPr sz="1050">
                <a:solidFill>
                  <a:srgbClr val="1C1C1C"/>
                </a:solidFill>
              </a:defRPr>
            </a:pPr>
            <a:r>
              <a:t>• State Management Without Frameworks: Implementing localStorage allowed us to create a seamless multi-page experience purely with Vanilla JS.</a:t>
            </a:r>
          </a:p>
          <a:p>
            <a:pPr>
              <a:spcBef>
                <a:spcPts val="1000"/>
              </a:spcBef>
              <a:defRPr sz="1050">
                <a:solidFill>
                  <a:srgbClr val="1C1C1C"/>
                </a:solidFill>
              </a:defRPr>
            </a:pPr>
            <a:r>
              <a:t>• Future Enhancement 1 — Backend Database: Connecting the frontend to a Node.js/Express API and MongoDB database for persistent multi-user data across devices.</a:t>
            </a:r>
          </a:p>
          <a:p>
            <a:pPr>
              <a:spcBef>
                <a:spcPts val="1000"/>
              </a:spcBef>
              <a:defRPr sz="1050">
                <a:solidFill>
                  <a:srgbClr val="1C1C1C"/>
                </a:solidFill>
              </a:defRPr>
            </a:pPr>
            <a:r>
              <a:t>• Future Enhancement 2 — UIW SSO Authentication: Restricting accounts strictly to verified @student.uiwtx.edu email credentials.</a:t>
            </a:r>
          </a:p>
          <a:p>
            <a:pPr>
              <a:spcBef>
                <a:spcPts val="1000"/>
              </a:spcBef>
              <a:defRPr sz="1050">
                <a:solidFill>
                  <a:srgbClr val="1C1C1C"/>
                </a:solidFill>
              </a:defRPr>
            </a:pPr>
            <a:r>
              <a:t>• Future Enhancement 3 — Payment Gateway: Integrating Stripe or Venmo campus student payments.</a:t>
            </a:r>
          </a:p>
          <a:p>
            <a:pPr>
              <a:spcBef>
                <a:spcPts val="1600"/>
              </a:spcBef>
              <a:defRPr sz="1400" b="1">
                <a:solidFill>
                  <a:srgbClr val="C8102E"/>
                </a:solidFill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