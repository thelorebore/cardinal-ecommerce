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9"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F326DC-3F7B-4E68-927A-AA058CAAA096}" v="1" dt="2026-10-28T16:49:44.2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0" autoAdjust="0"/>
    <p:restoredTop sz="94660"/>
  </p:normalViewPr>
  <p:slideViewPr>
    <p:cSldViewPr snapToGrid="0">
      <p:cViewPr varScale="1">
        <p:scale>
          <a:sx n="76" d="100"/>
          <a:sy n="76" d="100"/>
        </p:scale>
        <p:origin x="57"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 Frausto" userId="0e48f0a4dd9cf067" providerId="LiveId" clId="{2410ECFD-4777-40FE-BB26-4DE3B2E60FED}"/>
    <pc:docChg chg="undo custSel addSld delSld modSld sldOrd">
      <pc:chgData name="Maria Frausto" userId="0e48f0a4dd9cf067" providerId="LiveId" clId="{2410ECFD-4777-40FE-BB26-4DE3B2E60FED}" dt="2026-10-28T16:49:49.430" v="5" actId="47"/>
      <pc:docMkLst>
        <pc:docMk/>
      </pc:docMkLst>
      <pc:sldChg chg="del">
        <pc:chgData name="Maria Frausto" userId="0e48f0a4dd9cf067" providerId="LiveId" clId="{2410ECFD-4777-40FE-BB26-4DE3B2E60FED}" dt="2026-10-28T14:21:49.909" v="0" actId="47"/>
        <pc:sldMkLst>
          <pc:docMk/>
          <pc:sldMk cId="320946726" sldId="256"/>
        </pc:sldMkLst>
      </pc:sldChg>
      <pc:sldChg chg="ord">
        <pc:chgData name="Maria Frausto" userId="0e48f0a4dd9cf067" providerId="LiveId" clId="{2410ECFD-4777-40FE-BB26-4DE3B2E60FED}" dt="2026-10-28T16:49:31.004" v="3" actId="20578"/>
        <pc:sldMkLst>
          <pc:docMk/>
          <pc:sldMk cId="0" sldId="258"/>
        </pc:sldMkLst>
      </pc:sldChg>
      <pc:sldChg chg="del">
        <pc:chgData name="Maria Frausto" userId="0e48f0a4dd9cf067" providerId="LiveId" clId="{2410ECFD-4777-40FE-BB26-4DE3B2E60FED}" dt="2026-10-28T16:49:49.430" v="5" actId="47"/>
        <pc:sldMkLst>
          <pc:docMk/>
          <pc:sldMk cId="0" sldId="263"/>
        </pc:sldMkLst>
      </pc:sldChg>
      <pc:sldChg chg="add">
        <pc:chgData name="Maria Frausto" userId="0e48f0a4dd9cf067" providerId="LiveId" clId="{2410ECFD-4777-40FE-BB26-4DE3B2E60FED}" dt="2026-10-28T16:49:44.197" v="4"/>
        <pc:sldMkLst>
          <pc:docMk/>
          <pc:sldMk cId="0"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093C6E-4DDA-49A8-9BC8-E0823FAD7C35}"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EA1FD3-DD75-4F4F-BD06-335D44370F5B}" type="slidenum">
              <a:rPr lang="en-US" smtClean="0"/>
              <a:t>‹#›</a:t>
            </a:fld>
            <a:endParaRPr lang="en-US"/>
          </a:p>
        </p:txBody>
      </p:sp>
    </p:spTree>
    <p:extLst>
      <p:ext uri="{BB962C8B-B14F-4D97-AF65-F5344CB8AC3E}">
        <p14:creationId xmlns:p14="http://schemas.microsoft.com/office/powerpoint/2010/main" val="2059969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Professor Idar and classmates. Welcome to our Midterm Project presentation for CIS 2368. Today, our team presents Cardinal Market, an interactive 5-page sandbox e-commerce website designed specifically for University of the Incarnate Word students.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Cardinal Market provides a localized, student-centric marketplace. Because trades happen on campus at designated safe spots like Mabee Library or the SEC, students enjoy immediate, secure exchanges with fellow Cardinals.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visualizes the full 5-page structure of Cardinal Market. The syllabus required a 3-5+ page working website with full navigation. We delivered 5 complete, interconnected pages with shared navigation and active page highlighting.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key requirement of the midterm project rubric is: 'Show modified examples of code given in class.' This table directly details how our sandbox site honors that requirement across all 5 pages.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on the Home Page, owned by Isabella Gomez, you can see how we welcome visitors with our Cardinal red hero banner and a dynamic time-of-day greeting calculated from visitor clock.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Browse page, owned by Nathan Ortiz, students can search and filter the entire campus inventory in real time using Array.filter() and save items with the heart button.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Professor Idar. I'm Maria Frausto, and I designed and coded item.html, along with maria.css and maria.js.</a:t>
            </a:r>
          </a:p>
          <a:p/>
          <a:p>
            <a:r>
              <a:t>Since it's October and midterm season, I wanted our marketplace to feature a special Halloween Spooky Season edition! On item.html, our featured item is the 'Halloween Mystery Boo Pack: Spooky Dorm Treats &amp; Tiny Terrors' priced at $18, with a Spooktacular Find badge and myself listed as the verified curator.</a:t>
            </a:r>
          </a:p>
          <a:p/>
          <a:p>
            <a:r>
              <a:t>Technically, this page meets and exceeds our rubric criteria:</a:t>
            </a:r>
          </a:p>
          <a:p>
            <a:r>
              <a:t>1. Dynamic URL Loading: Using JavaScript URLSearchParams, the page reads '?id=' from the URL. If a specific item is passed from the Browse catalog or newly posted on the Sell page, it dynamically renders that item's data. Otherwise, it defaults to our Halloween Mystery Boo Pack.</a:t>
            </a:r>
          </a:p>
          <a:p>
            <a:r>
              <a:t>2. Interactive Spooky Gallery: I created three custom SVG graphics—the Spooky Pack, Ghost Buddy, and Pumpkin Stickers. When a student clicks any thumbnail, an event listener swaps the main image with a smooth CSS fade transition, and clicking the main image opens an accessible image zoom modal.</a:t>
            </a:r>
          </a:p>
          <a:p>
            <a:r>
              <a:t>3. Dynamic Offer Calculations: I added three Halloween quick-offer buttons—Offer 10% Off 🎃, Offer 20% Off 👻, and Offer 25% Off 🦇. When clicked, JavaScript reads the data-discount attribute, executes Math.round(price * (1 - discount)), populates the custom offer input box, and alerts the student with their spooky treat offer.</a:t>
            </a:r>
          </a:p>
          <a:p>
            <a:r>
              <a:t>4. Messaging and LocalStorage: The 'Message Seller' button opens an accessible modal dialog with a live 300-character countdown. Sent messages are stored in localStorage so they appear immediately in Isabella's Account dashboard.</a:t>
            </a:r>
          </a:p>
          <a:p>
            <a:r>
              <a:t>5. UIW Safe Meetup &amp; Spooky Styling: In maria.css, I styled the page with a custom midnight purple (#1b1035) and pumpkin orange (#ff8c24) palette, and integrated a UIW Campus Safety box recommending daylight meetups at the Mabee Library or Student Engagement Center (SEC).</a:t>
            </a:r>
          </a:p>
          <a:p/>
          <a:p>
            <a:r>
              <a:t>For our modified class code requirement, I expanded the sayHello.js pattern from class. Instead of a simple text greeting, my code reads dynamic attribute inputs, performs discount arithmetic, and provides immediate DOM feedback to the student buyer.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Sell page, designed by Sophia Gomez, students can post their own items for sale with real-time live preview, file photo upload, and an exciting 150-particle Cardinal confetti animation.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Account Dashboard, also created by Isabella Gomez, ties the entire sandbox website experience together with student profile management, event delegation on listings, and message inbox.</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the 5% oral explanation portion, this slide summarizes the foundational web development principles powering our sandbox site across semantic HTML5, modern CSS3 with CSS variables, and event-driven JavaScript.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will conduct the live demo of our Sandbox Website following this 5-step user journey from landing on Home to filtering, viewing details, posting an item, and verifying the Account dashboard.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very much, Professor Idar and classmates, for your time and feedback. We are now happy to answer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143D4-A482-E4F8-EA43-8C17E651ED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E828A6-FAEA-46AE-C69E-1F7675F827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5F3C07-00AD-4829-85FB-DB238817F86D}"/>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5" name="Footer Placeholder 4">
            <a:extLst>
              <a:ext uri="{FF2B5EF4-FFF2-40B4-BE49-F238E27FC236}">
                <a16:creationId xmlns:a16="http://schemas.microsoft.com/office/drawing/2014/main" id="{928CA6A4-A344-9112-E703-597424E27E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25CEE-6FDD-09CC-CDE8-7C90F0763F24}"/>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2675072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5BB59-BF96-DDB1-361F-FCA612F4FE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B0FF9A-2CEF-9F79-1111-E6D06E8986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FA724A-9831-B086-EA2F-B79A8D435C0F}"/>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5" name="Footer Placeholder 4">
            <a:extLst>
              <a:ext uri="{FF2B5EF4-FFF2-40B4-BE49-F238E27FC236}">
                <a16:creationId xmlns:a16="http://schemas.microsoft.com/office/drawing/2014/main" id="{77051721-F2D3-A0EB-C184-65EEDF44A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8AA8A2-3E04-A335-F1EF-4A4C4EAB042B}"/>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468538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F2BB4-2C6B-E6D3-C818-2570073DEA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339B88-74BE-C939-00BB-FB23D42AF2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6ECE14-0C4C-8E61-4EDA-806526A512CF}"/>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5" name="Footer Placeholder 4">
            <a:extLst>
              <a:ext uri="{FF2B5EF4-FFF2-40B4-BE49-F238E27FC236}">
                <a16:creationId xmlns:a16="http://schemas.microsoft.com/office/drawing/2014/main" id="{8A3ACAC7-267B-F471-5EAF-D1DB1A8C9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AAB3A-4F5A-F0F7-6EF4-6C81E514F05D}"/>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494796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E604C-6C3B-082A-839C-AB4C68627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31B462-F27F-C9F4-CBF2-2F2B63C31C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FF9CBE-0487-E99B-BF71-0ABF894F2D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CC1ABB-F58E-5AD6-4500-7AC1B6E9B4E8}"/>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6" name="Footer Placeholder 5">
            <a:extLst>
              <a:ext uri="{FF2B5EF4-FFF2-40B4-BE49-F238E27FC236}">
                <a16:creationId xmlns:a16="http://schemas.microsoft.com/office/drawing/2014/main" id="{1E10936C-4014-D189-8757-7073FBEFC0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07EA9E-D24C-C0E6-B755-15F3735A39C8}"/>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2547678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0730D-B317-2AE4-DE77-E4A005DEC9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5CD994-A2B8-6863-90DD-B1DDC4AC02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B92BDA-E977-0337-F2A3-508A862C6C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8AAB12-2C33-2C02-C355-5A4C9DCB4C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BE9FA9-7A7C-BB5D-24C8-4D4D97C8C0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EE515D-DF3A-F03D-33A2-EA61597337B6}"/>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8" name="Footer Placeholder 7">
            <a:extLst>
              <a:ext uri="{FF2B5EF4-FFF2-40B4-BE49-F238E27FC236}">
                <a16:creationId xmlns:a16="http://schemas.microsoft.com/office/drawing/2014/main" id="{6D764204-161B-8E7A-8A9D-3E21BC3414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E12C3C-7119-2EF1-5140-1C9FA792C50A}"/>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3008752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46646-B512-B036-C9DC-CE75CDCB2B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93C4D0-284E-3919-67DD-800D0697AC8D}"/>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4" name="Footer Placeholder 3">
            <a:extLst>
              <a:ext uri="{FF2B5EF4-FFF2-40B4-BE49-F238E27FC236}">
                <a16:creationId xmlns:a16="http://schemas.microsoft.com/office/drawing/2014/main" id="{E900B16C-A49E-133C-8BEA-2DAA589D23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E5F080-8D20-5D5A-6B1D-064E947E780E}"/>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1007232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D56A1B-E3DA-08DC-6060-5EFBA7DC34B5}"/>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3" name="Footer Placeholder 2">
            <a:extLst>
              <a:ext uri="{FF2B5EF4-FFF2-40B4-BE49-F238E27FC236}">
                <a16:creationId xmlns:a16="http://schemas.microsoft.com/office/drawing/2014/main" id="{975DA8FD-1EAD-0E30-3488-F6B957102A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D19C32-F7F3-A1A6-607C-03FF0DC5A8F7}"/>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2690483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46706-C437-AD11-DEBB-CBE3CC37CF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55C5B3-A963-7CD3-38F2-9B8FBAD394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5B77A-DA02-D980-8E79-95160FD43C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6B7B0F-80F5-2C4B-2C28-D9EF11313C38}"/>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6" name="Footer Placeholder 5">
            <a:extLst>
              <a:ext uri="{FF2B5EF4-FFF2-40B4-BE49-F238E27FC236}">
                <a16:creationId xmlns:a16="http://schemas.microsoft.com/office/drawing/2014/main" id="{FB4B41F5-8687-8113-DEFB-D1D94E3F4D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D5F59A-9F6F-6E55-F23E-2C8121D14965}"/>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4241317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ADE07-29F0-FFAB-BA30-D246DC3058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B6E8-6B04-35B8-49F3-57C64BF5321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291443-2643-7D80-7119-273B57E4C5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FB4E38-7722-EC92-DE91-5FC3EFF8390E}"/>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6" name="Footer Placeholder 5">
            <a:extLst>
              <a:ext uri="{FF2B5EF4-FFF2-40B4-BE49-F238E27FC236}">
                <a16:creationId xmlns:a16="http://schemas.microsoft.com/office/drawing/2014/main" id="{99221079-4EB8-7950-0FC7-E5AE72FF65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E4515F-6D74-E804-9A78-239A12A85A2B}"/>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2718467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4B76E-2097-4147-F672-4429F0470E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7A0192-2E88-E9FD-7018-711226D0BF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040E44-9080-522C-6C5C-8AB25619224D}"/>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5" name="Footer Placeholder 4">
            <a:extLst>
              <a:ext uri="{FF2B5EF4-FFF2-40B4-BE49-F238E27FC236}">
                <a16:creationId xmlns:a16="http://schemas.microsoft.com/office/drawing/2014/main" id="{D8CEEFFC-9866-F941-3B09-C894B748D0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9D4161-D36A-A815-262B-2BF4ED933C7F}"/>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355776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2A73F7-D01A-46BF-A93D-6950C5BFBA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94CB78-C4EC-3FCD-21E0-3A68165C92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3101AF-3E88-FFBF-550C-E7A2302C0BD9}"/>
              </a:ext>
            </a:extLst>
          </p:cNvPr>
          <p:cNvSpPr>
            <a:spLocks noGrp="1"/>
          </p:cNvSpPr>
          <p:nvPr>
            <p:ph type="dt" sz="half" idx="10"/>
          </p:nvPr>
        </p:nvSpPr>
        <p:spPr/>
        <p:txBody>
          <a:bodyPr/>
          <a:lstStyle/>
          <a:p>
            <a:fld id="{CA18A902-2C50-4982-8B4E-8F5AC8CEBB27}" type="datetimeFigureOut">
              <a:rPr lang="en-US" smtClean="0"/>
              <a:t>10/28/2026</a:t>
            </a:fld>
            <a:endParaRPr lang="en-US"/>
          </a:p>
        </p:txBody>
      </p:sp>
      <p:sp>
        <p:nvSpPr>
          <p:cNvPr id="5" name="Footer Placeholder 4">
            <a:extLst>
              <a:ext uri="{FF2B5EF4-FFF2-40B4-BE49-F238E27FC236}">
                <a16:creationId xmlns:a16="http://schemas.microsoft.com/office/drawing/2014/main" id="{B97EF982-4178-24B1-9A01-783265BE96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D1AD37-A10D-BB7D-8929-F79B32815521}"/>
              </a:ext>
            </a:extLst>
          </p:cNvPr>
          <p:cNvSpPr>
            <a:spLocks noGrp="1"/>
          </p:cNvSpPr>
          <p:nvPr>
            <p:ph type="sldNum" sz="quarter" idx="12"/>
          </p:nvPr>
        </p:nvSpPr>
        <p:spPr/>
        <p:txBody>
          <a:bodyPr/>
          <a:lstStyle/>
          <a:p>
            <a:fld id="{EABEE9EF-ACDD-4EFD-B2D0-49A04DD23E01}" type="slidenum">
              <a:rPr lang="en-US" smtClean="0"/>
              <a:t>‹#›</a:t>
            </a:fld>
            <a:endParaRPr lang="en-US"/>
          </a:p>
        </p:txBody>
      </p:sp>
    </p:spTree>
    <p:extLst>
      <p:ext uri="{BB962C8B-B14F-4D97-AF65-F5344CB8AC3E}">
        <p14:creationId xmlns:p14="http://schemas.microsoft.com/office/powerpoint/2010/main" val="2767232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0AF194-673D-6F1D-DD26-55166B9720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5E8EA8-82DB-2EF3-1D25-48139E23E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E6C4CF-46C4-099E-E0B7-04B663D971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18A902-2C50-4982-8B4E-8F5AC8CEBB27}" type="datetimeFigureOut">
              <a:rPr lang="en-US" smtClean="0"/>
              <a:t>10/28/2026</a:t>
            </a:fld>
            <a:endParaRPr lang="en-US"/>
          </a:p>
        </p:txBody>
      </p:sp>
      <p:sp>
        <p:nvSpPr>
          <p:cNvPr id="5" name="Footer Placeholder 4">
            <a:extLst>
              <a:ext uri="{FF2B5EF4-FFF2-40B4-BE49-F238E27FC236}">
                <a16:creationId xmlns:a16="http://schemas.microsoft.com/office/drawing/2014/main" id="{B3DAECEA-2481-CD9A-88F9-5CA76F61B0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B91673-ECDD-40FA-ADC0-83FD0FA400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BEE9EF-ACDD-4EFD-B2D0-49A04DD23E01}" type="slidenum">
              <a:rPr lang="en-US" smtClean="0"/>
              <a:t>‹#›</a:t>
            </a:fld>
            <a:endParaRPr lang="en-US"/>
          </a:p>
        </p:txBody>
      </p:sp>
    </p:spTree>
    <p:extLst>
      <p:ext uri="{BB962C8B-B14F-4D97-AF65-F5344CB8AC3E}">
        <p14:creationId xmlns:p14="http://schemas.microsoft.com/office/powerpoint/2010/main" val="622056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0" y="731520"/>
            <a:ext cx="10362895" cy="53949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0" tIns="457200" rIns="731520" rtlCol="0" anchor="ctr"/>
          <a:lstStyle/>
          <a:p>
            <a:pPr algn="ctr">
              <a:defRPr sz="1400" b="1">
                <a:solidFill>
                  <a:srgbClr val="800000"/>
                </a:solidFill>
              </a:defRPr>
            </a:pPr>
            <a:r>
              <a:t>CIS 2368.01 Website Development I • Midterm Project (40%)</a:t>
            </a:r>
          </a:p>
          <a:p>
            <a:pPr>
              <a:spcBef>
                <a:spcPts val="600"/>
              </a:spcBef>
              <a:defRPr sz="4000" b="1">
                <a:solidFill>
                  <a:srgbClr val="C8102E"/>
                </a:solidFill>
              </a:defRPr>
            </a:pPr>
            <a:r>
              <a:t>Cardinal Market</a:t>
            </a:r>
          </a:p>
          <a:p>
            <a:pPr>
              <a:spcBef>
                <a:spcPts val="400"/>
              </a:spcBef>
              <a:defRPr sz="2000">
                <a:solidFill>
                  <a:srgbClr val="1C1C1C"/>
                </a:solidFill>
              </a:defRPr>
            </a:pPr>
            <a:r>
              <a:t>UIW Campus Student Ecommerce Sandbox Website</a:t>
            </a:r>
          </a:p>
          <a:p>
            <a:pPr>
              <a:spcBef>
                <a:spcPts val="1200"/>
              </a:spcBef>
              <a:defRPr sz="1300">
                <a:solidFill>
                  <a:srgbClr val="64748B"/>
                </a:solidFill>
              </a:defRPr>
            </a:pPr>
            <a:r>
              <a:t>A 5-page responsive student marketplace featuring peer-to-peer campus trading, verified UIW safe meetup zones, live item preview, interactive catalog filtering, and student account dashboard.</a:t>
            </a:r>
          </a:p>
          <a:p>
            <a:pPr>
              <a:spcBef>
                <a:spcPts val="2000"/>
              </a:spcBef>
              <a:defRPr sz="1350" b="1">
                <a:solidFill>
                  <a:srgbClr val="1C1C1C"/>
                </a:solidFill>
              </a:defRPr>
            </a:pPr>
            <a:r>
              <a:t>Team Members &amp; Page Ownership:</a:t>
            </a:r>
          </a:p>
          <a:p>
            <a:pPr>
              <a:spcBef>
                <a:spcPts val="600"/>
              </a:spcBef>
              <a:defRPr sz="1100">
                <a:solidFill>
                  <a:srgbClr val="1C1C1C"/>
                </a:solidFill>
              </a:defRPr>
            </a:pPr>
            <a:r>
              <a:t>• Isabella Gomez: index.html (Home) &amp; account.html (Account) | css/isabella.css &amp; js/isabella.js</a:t>
            </a:r>
            <a:br/>
            <a:r>
              <a:t>• Nathan Ortiz: listings.html (Browse Marketplace) | css/nathan.css &amp; js/nathan.js</a:t>
            </a:r>
            <a:br/>
            <a:r>
              <a:t>• Maria Frausto: item.html (Item Details &amp; Messaging) | css/maria.css &amp; js/maria.js</a:t>
            </a:r>
            <a:br/>
            <a:r>
              <a:t>• Sophia Gomez: sell.html (Sell Form &amp; Live Preview) | css/sophia.css &amp; js/sophia.js</a:t>
            </a:r>
            <a:br/>
            <a:r>
              <a:t>• Shared Architecture: css/main.css, js/main.js | Course: CIS 2368 • Professor: Prof. Idar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Project Overview &amp; Mission: Facebook Marketplace for UIW</a:t>
            </a:r>
          </a:p>
        </p:txBody>
      </p:sp>
      <p:sp>
        <p:nvSpPr>
          <p:cNvPr id="3" name="Rounded Rectangle 2"/>
          <p:cNvSpPr/>
          <p:nvPr/>
        </p:nvSpPr>
        <p:spPr>
          <a:xfrm>
            <a:off x="731520" y="1371600"/>
            <a:ext cx="3328416" cy="4846320"/>
          </a:xfrm>
          <a:prstGeom prst="roundRect">
            <a:avLst/>
          </a:prstGeom>
          <a:solidFill>
            <a:srgbClr val="FFFFFF"/>
          </a:solidFill>
          <a:ln w="25400">
            <a:solidFill>
              <a:srgbClr val="800000"/>
            </a:solidFill>
          </a:ln>
        </p:spPr>
        <p:style>
          <a:lnRef idx="1">
            <a:schemeClr val="accent1"/>
          </a:lnRef>
          <a:fillRef idx="3">
            <a:schemeClr val="accent1"/>
          </a:fillRef>
          <a:effectRef idx="2">
            <a:schemeClr val="accent1"/>
          </a:effectRef>
          <a:fontRef idx="minor">
            <a:schemeClr val="lt1"/>
          </a:fontRef>
        </p:style>
        <p:txBody>
          <a:bodyPr wrap="square" lIns="274320" tIns="365760" rIns="274320" rtlCol="0" anchor="ctr"/>
          <a:lstStyle/>
          <a:p>
            <a:pPr algn="ctr">
              <a:defRPr sz="1600" b="1">
                <a:solidFill>
                  <a:srgbClr val="800000"/>
                </a:solidFill>
              </a:defRPr>
            </a:pPr>
            <a:r>
              <a:t>The Student Challenge</a:t>
            </a:r>
          </a:p>
          <a:p>
            <a:pPr>
              <a:spcBef>
                <a:spcPts val="1400"/>
              </a:spcBef>
              <a:defRPr sz="1100">
                <a:solidFill>
                  <a:srgbClr val="1C1C1C"/>
                </a:solidFill>
              </a:defRPr>
            </a:pPr>
            <a:r>
              <a:t>• High Textbook Costs: College bookstore prices and online retail markups strain student budgets.</a:t>
            </a:r>
          </a:p>
          <a:p>
            <a:pPr>
              <a:spcBef>
                <a:spcPts val="1400"/>
              </a:spcBef>
              <a:defRPr sz="1100">
                <a:solidFill>
                  <a:srgbClr val="1C1C1C"/>
                </a:solidFill>
              </a:defRPr>
            </a:pPr>
            <a:r>
              <a:t>• Dorm Move-in Waste: Students frequently need dorm fridges, lamps, and chairs, but lack an easy campus swap channel.</a:t>
            </a:r>
          </a:p>
          <a:p>
            <a:pPr>
              <a:spcBef>
                <a:spcPts val="1400"/>
              </a:spcBef>
              <a:defRPr sz="1100">
                <a:solidFill>
                  <a:srgbClr val="1C1C1C"/>
                </a:solidFill>
              </a:defRPr>
            </a:pPr>
            <a:r>
              <a:t>• Off-Campus Safety Concerns: Selling on general platforms involves meeting strangers in non-secure locations.</a:t>
            </a:r>
          </a:p>
        </p:txBody>
      </p:sp>
      <p:sp>
        <p:nvSpPr>
          <p:cNvPr id="4" name="Rounded Rectangle 3"/>
          <p:cNvSpPr/>
          <p:nvPr/>
        </p:nvSpPr>
        <p:spPr>
          <a:xfrm>
            <a:off x="4334256" y="1371600"/>
            <a:ext cx="3328416" cy="4846320"/>
          </a:xfrm>
          <a:prstGeom prst="roundRect">
            <a:avLst/>
          </a:prstGeom>
          <a:solidFill>
            <a:srgbClr val="FFFFFF"/>
          </a:solidFill>
          <a:ln w="2540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365760" rIns="274320" rtlCol="0" anchor="ctr"/>
          <a:lstStyle/>
          <a:p>
            <a:pPr algn="ctr">
              <a:defRPr sz="1600" b="1">
                <a:solidFill>
                  <a:srgbClr val="C8102E"/>
                </a:solidFill>
              </a:defRPr>
            </a:pPr>
            <a:r>
              <a:t>The Cardinal Solution</a:t>
            </a:r>
          </a:p>
          <a:p>
            <a:pPr>
              <a:spcBef>
                <a:spcPts val="1400"/>
              </a:spcBef>
              <a:defRPr sz="1100">
                <a:solidFill>
                  <a:srgbClr val="1C1C1C"/>
                </a:solidFill>
              </a:defRPr>
            </a:pPr>
            <a:r>
              <a:t>• UIW-Exclusive Community: Created specifically for Incarnate Word students, faculty, and campus organizations.</a:t>
            </a:r>
          </a:p>
          <a:p>
            <a:pPr>
              <a:spcBef>
                <a:spcPts val="1400"/>
              </a:spcBef>
              <a:defRPr sz="1100">
                <a:solidFill>
                  <a:srgbClr val="1C1C1C"/>
                </a:solidFill>
              </a:defRPr>
            </a:pPr>
            <a:r>
              <a:t>• Verified Safe Exchange Zones: Recommends public, well-lit campus hubs (Mabee Library &amp; Student Center).</a:t>
            </a:r>
          </a:p>
          <a:p>
            <a:pPr>
              <a:spcBef>
                <a:spcPts val="1400"/>
              </a:spcBef>
              <a:defRPr sz="1100">
                <a:solidFill>
                  <a:srgbClr val="1C1C1C"/>
                </a:solidFill>
              </a:defRPr>
            </a:pPr>
            <a:r>
              <a:t>• Zero Transaction Fees: 100% peer-to-peer student savings with zero intermediary platform cuts.</a:t>
            </a:r>
          </a:p>
        </p:txBody>
      </p:sp>
      <p:sp>
        <p:nvSpPr>
          <p:cNvPr id="5" name="Rounded Rectangle 4"/>
          <p:cNvSpPr/>
          <p:nvPr/>
        </p:nvSpPr>
        <p:spPr>
          <a:xfrm>
            <a:off x="7936992" y="1371600"/>
            <a:ext cx="3328416" cy="4846320"/>
          </a:xfrm>
          <a:prstGeom prst="roundRect">
            <a:avLst/>
          </a:prstGeom>
          <a:solidFill>
            <a:srgbClr val="FFFFFF"/>
          </a:solidFill>
          <a:ln w="25400">
            <a:solidFill>
              <a:srgbClr val="1C1C1C"/>
            </a:solidFill>
          </a:ln>
        </p:spPr>
        <p:style>
          <a:lnRef idx="1">
            <a:schemeClr val="accent1"/>
          </a:lnRef>
          <a:fillRef idx="3">
            <a:schemeClr val="accent1"/>
          </a:fillRef>
          <a:effectRef idx="2">
            <a:schemeClr val="accent1"/>
          </a:effectRef>
          <a:fontRef idx="minor">
            <a:schemeClr val="lt1"/>
          </a:fontRef>
        </p:style>
        <p:txBody>
          <a:bodyPr wrap="square" lIns="274320" tIns="365760" rIns="274320" rtlCol="0" anchor="ctr"/>
          <a:lstStyle/>
          <a:p>
            <a:pPr algn="ctr">
              <a:defRPr sz="1600" b="1">
                <a:solidFill>
                  <a:srgbClr val="1C1C1C"/>
                </a:solidFill>
              </a:defRPr>
            </a:pPr>
            <a:r>
              <a:t>Design Criteria</a:t>
            </a:r>
          </a:p>
          <a:p>
            <a:pPr>
              <a:spcBef>
                <a:spcPts val="1400"/>
              </a:spcBef>
              <a:defRPr sz="1100">
                <a:solidFill>
                  <a:srgbClr val="1C1C1C"/>
                </a:solidFill>
              </a:defRPr>
            </a:pPr>
            <a:r>
              <a:t>• 100% Vanilla Web Standards: Built purely in semantic HTML5, modern CSS3 (Grid/Flexbox), and vanilla JavaScript ES6.</a:t>
            </a:r>
          </a:p>
          <a:p>
            <a:pPr>
              <a:spcBef>
                <a:spcPts val="1400"/>
              </a:spcBef>
              <a:defRPr sz="1100">
                <a:solidFill>
                  <a:srgbClr val="1C1C1C"/>
                </a:solidFill>
              </a:defRPr>
            </a:pPr>
            <a:r>
              <a:t>• Fully Responsive &amp; Accessible: Adapts seamlessly across desktop, tablet, and mobile with ARIA landmarks.</a:t>
            </a:r>
          </a:p>
          <a:p>
            <a:pPr>
              <a:spcBef>
                <a:spcPts val="1400"/>
              </a:spcBef>
              <a:defRPr sz="1100">
                <a:solidFill>
                  <a:srgbClr val="1C1C1C"/>
                </a:solidFill>
              </a:defRPr>
            </a:pPr>
            <a:r>
              <a:t>• Inter-Page Data Sync: Client-side persistence using localStorage unites listings, saved items, and messages.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Site Architecture &amp; 5-Page Navigation Structure</a:t>
            </a:r>
          </a:p>
        </p:txBody>
      </p:sp>
      <p:sp>
        <p:nvSpPr>
          <p:cNvPr id="3" name="Rounded Rectangle 2"/>
          <p:cNvSpPr/>
          <p:nvPr/>
        </p:nvSpPr>
        <p:spPr>
          <a:xfrm>
            <a:off x="731520" y="1280160"/>
            <a:ext cx="10728655" cy="868680"/>
          </a:xfrm>
          <a:prstGeom prst="roundRect">
            <a:avLst/>
          </a:prstGeom>
          <a:solidFill>
            <a:srgbClr val="FFFFFF"/>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128016" rtlCol="0" anchor="ctr"/>
          <a:lstStyle/>
          <a:p>
            <a:pPr algn="ctr">
              <a:defRPr sz="1300" b="1">
                <a:solidFill>
                  <a:srgbClr val="C8102E"/>
                </a:solidFill>
              </a:defRPr>
            </a:pPr>
            <a:r>
              <a:t>1. Home (index.html)  —  Owner: Isabella Gomez</a:t>
            </a:r>
          </a:p>
          <a:p>
            <a:pPr>
              <a:spcBef>
                <a:spcPts val="300"/>
              </a:spcBef>
              <a:defRPr sz="1100">
                <a:solidFill>
                  <a:srgbClr val="1C1C1C"/>
                </a:solidFill>
              </a:defRPr>
            </a:pPr>
            <a:r>
              <a:t>Landing banner with dynamic greeting based on visitor time of day, quick category tiles, and array-driven featured cards.</a:t>
            </a:r>
          </a:p>
        </p:txBody>
      </p:sp>
      <p:sp>
        <p:nvSpPr>
          <p:cNvPr id="4" name="Rounded Rectangle 3"/>
          <p:cNvSpPr/>
          <p:nvPr/>
        </p:nvSpPr>
        <p:spPr>
          <a:xfrm>
            <a:off x="731520" y="2313432"/>
            <a:ext cx="10728655" cy="868680"/>
          </a:xfrm>
          <a:prstGeom prst="roundRect">
            <a:avLst/>
          </a:prstGeom>
          <a:solidFill>
            <a:srgbClr val="FFFFFF"/>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wrap="square" lIns="274320" tIns="128016" rtlCol="0" anchor="ctr"/>
          <a:lstStyle/>
          <a:p>
            <a:pPr algn="ctr">
              <a:defRPr sz="1300" b="1">
                <a:solidFill>
                  <a:srgbClr val="C8102E"/>
                </a:solidFill>
              </a:defRPr>
            </a:pPr>
            <a:r>
              <a:t>2. Browse (listings.html)  —  Owner: Nathan Ortiz</a:t>
            </a:r>
          </a:p>
          <a:p>
            <a:pPr>
              <a:spcBef>
                <a:spcPts val="300"/>
              </a:spcBef>
              <a:defRPr sz="1100">
                <a:solidFill>
                  <a:srgbClr val="1C1C1C"/>
                </a:solidFill>
              </a:defRPr>
            </a:pPr>
            <a:r>
              <a:t>Comprehensive marketplace catalog with live search query matching, category dropdown filters, price sorting, and dynamic card generation.</a:t>
            </a:r>
          </a:p>
        </p:txBody>
      </p:sp>
      <p:sp>
        <p:nvSpPr>
          <p:cNvPr id="5" name="Rounded Rectangle 4"/>
          <p:cNvSpPr/>
          <p:nvPr/>
        </p:nvSpPr>
        <p:spPr>
          <a:xfrm>
            <a:off x="731520" y="3346704"/>
            <a:ext cx="10728655" cy="868680"/>
          </a:xfrm>
          <a:prstGeom prst="roundRect">
            <a:avLst/>
          </a:prstGeom>
          <a:solidFill>
            <a:srgbClr val="FFFFFF"/>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128016" rtlCol="0" anchor="ctr"/>
          <a:lstStyle/>
          <a:p>
            <a:pPr algn="ctr">
              <a:defRPr sz="1300" b="1">
                <a:solidFill>
                  <a:srgbClr val="C8102E"/>
                </a:solidFill>
              </a:defRPr>
            </a:pPr>
            <a:r>
              <a:t>3. Item Detail (item.html)  •  Owner: Maria Frausto (Halloween Spooky Edition 🎃)</a:t>
            </a:r>
          </a:p>
          <a:p>
            <a:pPr>
              <a:spcBef>
                <a:spcPts val="300"/>
              </a:spcBef>
              <a:defRPr sz="1100">
                <a:solidFill>
                  <a:srgbClr val="1C1C1C"/>
                </a:solidFill>
              </a:defRPr>
            </a:pPr>
            <a:r>
              <a:t>Deep product inspection with URL parameter loading (?id=...), October Halloween Mystery Boo Pack spotlight, interactive 3-image SVG gallery switcher, dynamic discount math, and messaging modal.</a:t>
            </a:r>
          </a:p>
        </p:txBody>
      </p:sp>
      <p:sp>
        <p:nvSpPr>
          <p:cNvPr id="6" name="Rounded Rectangle 5"/>
          <p:cNvSpPr/>
          <p:nvPr/>
        </p:nvSpPr>
        <p:spPr>
          <a:xfrm>
            <a:off x="731520" y="4379976"/>
            <a:ext cx="10728655" cy="868680"/>
          </a:xfrm>
          <a:prstGeom prst="roundRect">
            <a:avLst/>
          </a:prstGeom>
          <a:solidFill>
            <a:srgbClr val="FFFFFF"/>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wrap="square" lIns="274320" tIns="128016" rtlCol="0" anchor="ctr"/>
          <a:lstStyle/>
          <a:p>
            <a:pPr algn="ctr">
              <a:defRPr sz="1300" b="1">
                <a:solidFill>
                  <a:srgbClr val="C8102E"/>
                </a:solidFill>
              </a:defRPr>
            </a:pPr>
            <a:r>
              <a:t>4. Sell Form (sell.html)  —  Owner: Sophia Gomez</a:t>
            </a:r>
          </a:p>
          <a:p>
            <a:pPr>
              <a:spcBef>
                <a:spcPts val="300"/>
              </a:spcBef>
              <a:defRPr sz="1100">
                <a:solidFill>
                  <a:srgbClr val="1C1C1C"/>
                </a:solidFill>
              </a:defRPr>
            </a:pPr>
            <a:r>
              <a:t>Reactive seller posting form with instant live preview, HTML5 file upload reader, validation, and a 150-particle Cardinal confetti celebration.</a:t>
            </a:r>
          </a:p>
        </p:txBody>
      </p:sp>
      <p:sp>
        <p:nvSpPr>
          <p:cNvPr id="7" name="Rounded Rectangle 6"/>
          <p:cNvSpPr/>
          <p:nvPr/>
        </p:nvSpPr>
        <p:spPr>
          <a:xfrm>
            <a:off x="731520" y="5413248"/>
            <a:ext cx="10728655" cy="868680"/>
          </a:xfrm>
          <a:prstGeom prst="roundRect">
            <a:avLst/>
          </a:prstGeom>
          <a:solidFill>
            <a:srgbClr val="FFFFFF"/>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128016" rtlCol="0" anchor="ctr"/>
          <a:lstStyle/>
          <a:p>
            <a:pPr algn="ctr">
              <a:defRPr sz="1300" b="1">
                <a:solidFill>
                  <a:srgbClr val="C8102E"/>
                </a:solidFill>
              </a:defRPr>
            </a:pPr>
            <a:r>
              <a:t>5. Account (account.html)  —  Owner: Isabella Gomez</a:t>
            </a:r>
          </a:p>
          <a:p>
            <a:pPr>
              <a:spcBef>
                <a:spcPts val="300"/>
              </a:spcBef>
              <a:defRPr sz="1100">
                <a:solidFill>
                  <a:srgbClr val="1C1C1C"/>
                </a:solidFill>
              </a:defRPr>
            </a:pPr>
            <a:r>
              <a:t>Personalized student dashboard allowing profile name editing, active listing management, saved favorites, and simulated message threads.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Modified Examples of Class Code (Rubric Criterion)</a:t>
            </a:r>
          </a:p>
        </p:txBody>
      </p:sp>
      <p:sp>
        <p:nvSpPr>
          <p:cNvPr id="3" name="Rectangle 2"/>
          <p:cNvSpPr/>
          <p:nvPr/>
        </p:nvSpPr>
        <p:spPr>
          <a:xfrm>
            <a:off x="731520" y="1280160"/>
            <a:ext cx="2926080" cy="411480"/>
          </a:xfrm>
          <a:prstGeom prst="rect">
            <a:avLst/>
          </a:prstGeom>
          <a:solidFill>
            <a:srgbClr val="1C1C1C"/>
          </a:solidFill>
          <a:ln>
            <a:solidFill>
              <a:srgbClr val="1C1C1C"/>
            </a:solidFill>
          </a:ln>
        </p:spPr>
        <p:style>
          <a:lnRef idx="1">
            <a:schemeClr val="accent1"/>
          </a:lnRef>
          <a:fillRef idx="3">
            <a:schemeClr val="accent1"/>
          </a:fillRef>
          <a:effectRef idx="2">
            <a:schemeClr val="accent1"/>
          </a:effectRef>
          <a:fontRef idx="minor">
            <a:schemeClr val="lt1"/>
          </a:fontRef>
        </p:style>
        <p:txBody>
          <a:bodyPr lIns="137160" tIns="91440" rtlCol="0" anchor="ctr"/>
          <a:lstStyle/>
          <a:p>
            <a:pPr algn="ctr">
              <a:defRPr sz="1100" b="1">
                <a:solidFill>
                  <a:srgbClr val="FFD166"/>
                </a:solidFill>
              </a:defRPr>
            </a:pPr>
            <a:r>
              <a:t>Class Lesson / Code Given</a:t>
            </a:r>
          </a:p>
        </p:txBody>
      </p:sp>
      <p:sp>
        <p:nvSpPr>
          <p:cNvPr id="4" name="Rectangle 3"/>
          <p:cNvSpPr/>
          <p:nvPr/>
        </p:nvSpPr>
        <p:spPr>
          <a:xfrm>
            <a:off x="3657600" y="1280160"/>
            <a:ext cx="3657600" cy="411480"/>
          </a:xfrm>
          <a:prstGeom prst="rect">
            <a:avLst/>
          </a:prstGeom>
          <a:solidFill>
            <a:srgbClr val="1C1C1C"/>
          </a:solidFill>
          <a:ln>
            <a:solidFill>
              <a:srgbClr val="1C1C1C"/>
            </a:solidFill>
          </a:ln>
        </p:spPr>
        <p:style>
          <a:lnRef idx="1">
            <a:schemeClr val="accent1"/>
          </a:lnRef>
          <a:fillRef idx="3">
            <a:schemeClr val="accent1"/>
          </a:fillRef>
          <a:effectRef idx="2">
            <a:schemeClr val="accent1"/>
          </a:effectRef>
          <a:fontRef idx="minor">
            <a:schemeClr val="lt1"/>
          </a:fontRef>
        </p:style>
        <p:txBody>
          <a:bodyPr lIns="137160" tIns="91440" rtlCol="0" anchor="ctr"/>
          <a:lstStyle/>
          <a:p>
            <a:pPr algn="ctr">
              <a:defRPr sz="1100" b="1">
                <a:solidFill>
                  <a:srgbClr val="FFD166"/>
                </a:solidFill>
              </a:defRPr>
            </a:pPr>
            <a:r>
              <a:t>Original Concept in Class</a:t>
            </a:r>
          </a:p>
        </p:txBody>
      </p:sp>
      <p:sp>
        <p:nvSpPr>
          <p:cNvPr id="5" name="Rectangle 4"/>
          <p:cNvSpPr/>
          <p:nvPr/>
        </p:nvSpPr>
        <p:spPr>
          <a:xfrm>
            <a:off x="7315200" y="1280160"/>
            <a:ext cx="4114800" cy="411480"/>
          </a:xfrm>
          <a:prstGeom prst="rect">
            <a:avLst/>
          </a:prstGeom>
          <a:solidFill>
            <a:srgbClr val="1C1C1C"/>
          </a:solidFill>
          <a:ln>
            <a:solidFill>
              <a:srgbClr val="1C1C1C"/>
            </a:solidFill>
          </a:ln>
        </p:spPr>
        <p:style>
          <a:lnRef idx="1">
            <a:schemeClr val="accent1"/>
          </a:lnRef>
          <a:fillRef idx="3">
            <a:schemeClr val="accent1"/>
          </a:fillRef>
          <a:effectRef idx="2">
            <a:schemeClr val="accent1"/>
          </a:effectRef>
          <a:fontRef idx="minor">
            <a:schemeClr val="lt1"/>
          </a:fontRef>
        </p:style>
        <p:txBody>
          <a:bodyPr lIns="137160" tIns="91440" rtlCol="0" anchor="ctr"/>
          <a:lstStyle/>
          <a:p>
            <a:pPr algn="ctr">
              <a:defRPr sz="1100" b="1">
                <a:solidFill>
                  <a:srgbClr val="FFD166"/>
                </a:solidFill>
              </a:defRPr>
            </a:pPr>
            <a:r>
              <a:t>Cardinal Market Enhanced Implementation</a:t>
            </a:r>
          </a:p>
        </p:txBody>
      </p:sp>
      <p:sp>
        <p:nvSpPr>
          <p:cNvPr id="6" name="Rectangle 5"/>
          <p:cNvSpPr/>
          <p:nvPr/>
        </p:nvSpPr>
        <p:spPr>
          <a:xfrm>
            <a:off x="731520" y="1737360"/>
            <a:ext cx="2926080" cy="749808"/>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b="1">
                <a:solidFill>
                  <a:srgbClr val="800000"/>
                </a:solidFill>
              </a:defRPr>
            </a:pPr>
            <a:r>
              <a:t>JS/script.js &amp; hw8</a:t>
            </a:r>
            <a:br/>
            <a:r>
              <a:t>Conditionals &amp; Greeting</a:t>
            </a:r>
          </a:p>
        </p:txBody>
      </p:sp>
      <p:sp>
        <p:nvSpPr>
          <p:cNvPr id="7" name="Rectangle 6"/>
          <p:cNvSpPr/>
          <p:nvPr/>
        </p:nvSpPr>
        <p:spPr>
          <a:xfrm>
            <a:off x="3657600" y="1737360"/>
            <a:ext cx="3657600" cy="749808"/>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a:solidFill>
                  <a:srgbClr val="1C1C1C"/>
                </a:solidFill>
              </a:defRPr>
            </a:pPr>
            <a:r>
              <a:t>Static window.onload greeting:</a:t>
            </a:r>
            <a:br/>
            <a:r>
              <a:t>welcomeMsg.style.color = "#800000";</a:t>
            </a:r>
            <a:br/>
            <a:r>
              <a:t>Simple role check ("student"/"faculty").</a:t>
            </a:r>
          </a:p>
        </p:txBody>
      </p:sp>
      <p:sp>
        <p:nvSpPr>
          <p:cNvPr id="8" name="Rectangle 7"/>
          <p:cNvSpPr/>
          <p:nvPr/>
        </p:nvSpPr>
        <p:spPr>
          <a:xfrm>
            <a:off x="7315200" y="1737360"/>
            <a:ext cx="4114800" cy="749808"/>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a:solidFill>
                  <a:srgbClr val="1C1C1C"/>
                </a:solidFill>
              </a:defRPr>
            </a:pPr>
            <a:r>
              <a:t>Dynamic time-of-day greeting (morning/afternoon/evening) calculated via Date().getHours(). Responsive gold font over Cardinal red hero banner.</a:t>
            </a:r>
          </a:p>
        </p:txBody>
      </p:sp>
      <p:sp>
        <p:nvSpPr>
          <p:cNvPr id="9" name="Rectangle 8"/>
          <p:cNvSpPr/>
          <p:nvPr/>
        </p:nvSpPr>
        <p:spPr>
          <a:xfrm>
            <a:off x="731520" y="2487168"/>
            <a:ext cx="2926080" cy="74980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b="1">
                <a:solidFill>
                  <a:srgbClr val="800000"/>
                </a:solidFill>
              </a:defRPr>
            </a:pPr>
            <a:r>
              <a:t>hw4 &amp; inputOutput.html</a:t>
            </a:r>
            <a:br/>
            <a:r>
              <a:t>Form Handling &amp; Output</a:t>
            </a:r>
          </a:p>
        </p:txBody>
      </p:sp>
      <p:sp>
        <p:nvSpPr>
          <p:cNvPr id="10" name="Rectangle 9"/>
          <p:cNvSpPr/>
          <p:nvPr/>
        </p:nvSpPr>
        <p:spPr>
          <a:xfrm>
            <a:off x="3657600" y="2487168"/>
            <a:ext cx="3657600" cy="74980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a:solidFill>
                  <a:srgbClr val="1C1C1C"/>
                </a:solidFill>
              </a:defRPr>
            </a:pPr>
            <a:r>
              <a:t>Basic form inputs (text, number, radio) with standard submit or button calculating total.</a:t>
            </a:r>
          </a:p>
        </p:txBody>
      </p:sp>
      <p:sp>
        <p:nvSpPr>
          <p:cNvPr id="11" name="Rectangle 10"/>
          <p:cNvSpPr/>
          <p:nvPr/>
        </p:nvSpPr>
        <p:spPr>
          <a:xfrm>
            <a:off x="7315200" y="2487168"/>
            <a:ext cx="4114800" cy="74980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a:solidFill>
                  <a:srgbClr val="1C1C1C"/>
                </a:solidFill>
              </a:defRPr>
            </a:pPr>
            <a:r>
              <a:t>Real-time two-way data binding in sell.html: input/change events update listing preview live; validates price &gt;= 0 and file MIME type.</a:t>
            </a:r>
          </a:p>
        </p:txBody>
      </p:sp>
      <p:sp>
        <p:nvSpPr>
          <p:cNvPr id="12" name="Rectangle 11"/>
          <p:cNvSpPr/>
          <p:nvPr/>
        </p:nvSpPr>
        <p:spPr>
          <a:xfrm>
            <a:off x="731520" y="3236976"/>
            <a:ext cx="2926080" cy="749808"/>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b="1">
                <a:solidFill>
                  <a:srgbClr val="800000"/>
                </a:solidFill>
              </a:defRPr>
            </a:pPr>
            <a:r>
              <a:t>hw7 &amp; hw8</a:t>
            </a:r>
            <a:br/>
            <a:r>
              <a:t>DOM &amp; Arrays</a:t>
            </a:r>
          </a:p>
        </p:txBody>
      </p:sp>
      <p:sp>
        <p:nvSpPr>
          <p:cNvPr id="13" name="Rectangle 12"/>
          <p:cNvSpPr/>
          <p:nvPr/>
        </p:nvSpPr>
        <p:spPr>
          <a:xfrm>
            <a:off x="3657600" y="3236976"/>
            <a:ext cx="3657600" cy="749808"/>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a:solidFill>
                  <a:srgbClr val="1C1C1C"/>
                </a:solidFill>
              </a:defRPr>
            </a:pPr>
            <a:r>
              <a:t>Basic document.write() and simple loops over arrays printing lists.</a:t>
            </a:r>
          </a:p>
        </p:txBody>
      </p:sp>
      <p:sp>
        <p:nvSpPr>
          <p:cNvPr id="14" name="Rectangle 13"/>
          <p:cNvSpPr/>
          <p:nvPr/>
        </p:nvSpPr>
        <p:spPr>
          <a:xfrm>
            <a:off x="7315200" y="3236976"/>
            <a:ext cx="4114800" cy="749808"/>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a:solidFill>
                  <a:srgbClr val="1C1C1C"/>
                </a:solidFill>
              </a:defRPr>
            </a:pPr>
            <a:r>
              <a:t>Array of item objects dynamically rendered into CSS Grid cards using createElement and appendChild; query-driven filter() and sorting.</a:t>
            </a:r>
          </a:p>
        </p:txBody>
      </p:sp>
      <p:sp>
        <p:nvSpPr>
          <p:cNvPr id="15" name="Rectangle 14"/>
          <p:cNvSpPr/>
          <p:nvPr/>
        </p:nvSpPr>
        <p:spPr>
          <a:xfrm>
            <a:off x="731520" y="3986784"/>
            <a:ext cx="2926080" cy="74980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b="1">
                <a:solidFill>
                  <a:srgbClr val="800000"/>
                </a:solidFill>
              </a:defRPr>
            </a:pPr>
            <a:r>
              <a:t>hw5 &amp; hw6</a:t>
            </a:r>
            <a:br/>
            <a:r>
              <a:t>CSS Layouts &amp; Box Model</a:t>
            </a:r>
          </a:p>
        </p:txBody>
      </p:sp>
      <p:sp>
        <p:nvSpPr>
          <p:cNvPr id="16" name="Rectangle 15"/>
          <p:cNvSpPr/>
          <p:nvPr/>
        </p:nvSpPr>
        <p:spPr>
          <a:xfrm>
            <a:off x="3657600" y="3986784"/>
            <a:ext cx="3657600" cy="74980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a:solidFill>
                  <a:srgbClr val="1C1C1C"/>
                </a:solidFill>
              </a:defRPr>
            </a:pPr>
            <a:r>
              <a:t>Fixed widths, floats, inline styles, basic padding/margin box model.</a:t>
            </a:r>
          </a:p>
        </p:txBody>
      </p:sp>
      <p:sp>
        <p:nvSpPr>
          <p:cNvPr id="17" name="Rectangle 16"/>
          <p:cNvSpPr/>
          <p:nvPr/>
        </p:nvSpPr>
        <p:spPr>
          <a:xfrm>
            <a:off x="7315200" y="3986784"/>
            <a:ext cx="4114800" cy="74980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a:solidFill>
                  <a:srgbClr val="1C1C1C"/>
                </a:solidFill>
              </a:defRPr>
            </a:pPr>
            <a:r>
              <a:t>Modern CSS Grid (repeat(auto-fill, minmax(240px, 1fr))), Flexbox alignment, CSS Custom Variables (:root), and mobile media queries.</a:t>
            </a:r>
          </a:p>
        </p:txBody>
      </p:sp>
      <p:sp>
        <p:nvSpPr>
          <p:cNvPr id="18" name="Rectangle 17"/>
          <p:cNvSpPr/>
          <p:nvPr/>
        </p:nvSpPr>
        <p:spPr>
          <a:xfrm>
            <a:off x="731520" y="4736592"/>
            <a:ext cx="2926080" cy="749808"/>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b="1">
                <a:solidFill>
                  <a:srgbClr val="800000"/>
                </a:solidFill>
              </a:defRPr>
            </a:pPr>
            <a:r>
              <a:t>hw3 &amp; hw7</a:t>
            </a:r>
            <a:br/>
            <a:r>
              <a:t>Interactivity &amp; Events</a:t>
            </a:r>
          </a:p>
        </p:txBody>
      </p:sp>
      <p:sp>
        <p:nvSpPr>
          <p:cNvPr id="19" name="Rectangle 18"/>
          <p:cNvSpPr/>
          <p:nvPr/>
        </p:nvSpPr>
        <p:spPr>
          <a:xfrm>
            <a:off x="3657600" y="4736592"/>
            <a:ext cx="3657600" cy="749808"/>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a:solidFill>
                  <a:srgbClr val="1C1C1C"/>
                </a:solidFill>
              </a:defRPr>
            </a:pPr>
            <a:r>
              <a:t>Single onclick alerts and static table layouts.</a:t>
            </a:r>
          </a:p>
        </p:txBody>
      </p:sp>
      <p:sp>
        <p:nvSpPr>
          <p:cNvPr id="20" name="Rectangle 19"/>
          <p:cNvSpPr/>
          <p:nvPr/>
        </p:nvSpPr>
        <p:spPr>
          <a:xfrm>
            <a:off x="7315200" y="4736592"/>
            <a:ext cx="4114800" cy="749808"/>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defRPr sz="1000">
                <a:solidFill>
                  <a:srgbClr val="1C1C1C"/>
                </a:solidFill>
              </a:defRPr>
            </a:pPr>
            <a:r>
              <a:t>Interactive modal dialog with character counter, thumbnail photo switcher, and localStorage persistence across all pages.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Home Page (index.html) — Isabella Gomez</a:t>
            </a:r>
          </a:p>
        </p:txBody>
      </p:sp>
      <p:pic>
        <p:nvPicPr>
          <p:cNvPr id="3" name="Picture 2" descr="home_page.png"/>
          <p:cNvPicPr>
            <a:picLocks noChangeAspect="1"/>
          </p:cNvPicPr>
          <p:nvPr/>
        </p:nvPicPr>
        <p:blipFill>
          <a:blip r:embed="rId3"/>
          <a:stretch>
            <a:fillRect/>
          </a:stretch>
        </p:blipFill>
        <p:spPr>
          <a:xfrm>
            <a:off x="731520" y="1280160"/>
            <a:ext cx="5303520" cy="4086319"/>
          </a:xfrm>
          <a:prstGeom prst="rect">
            <a:avLst/>
          </a:prstGeom>
        </p:spPr>
      </p:pic>
      <p:sp>
        <p:nvSpPr>
          <p:cNvPr id="4" name="Rounded Rectangle 3"/>
          <p:cNvSpPr/>
          <p:nvPr/>
        </p:nvSpPr>
        <p:spPr>
          <a:xfrm>
            <a:off x="6217920" y="1280160"/>
            <a:ext cx="5212080" cy="5120640"/>
          </a:xfrm>
          <a:prstGeom prst="roundRect">
            <a:avLst/>
          </a:prstGeom>
          <a:solidFill>
            <a:srgbClr val="FFFFFF"/>
          </a:solidFill>
          <a:ln w="2540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600" b="1">
                <a:solidFill>
                  <a:srgbClr val="C8102E"/>
                </a:solidFill>
              </a:defRPr>
            </a:pPr>
            <a:r>
              <a:t>Key Features &amp; Code Architecture</a:t>
            </a:r>
          </a:p>
          <a:p>
            <a:pPr>
              <a:spcBef>
                <a:spcPts val="800"/>
              </a:spcBef>
              <a:defRPr sz="1050">
                <a:solidFill>
                  <a:srgbClr val="1C1C1C"/>
                </a:solidFill>
              </a:defRPr>
            </a:pPr>
            <a:r>
              <a:t>• Dynamic Greeting (script.js): Inspects current hour with new Date().getHours() and renders custom morning, afternoon, or evening welcome message.</a:t>
            </a:r>
          </a:p>
          <a:p>
            <a:pPr>
              <a:spcBef>
                <a:spcPts val="800"/>
              </a:spcBef>
              <a:defRPr sz="1050">
                <a:solidFill>
                  <a:srgbClr val="1C1C1C"/>
                </a:solidFill>
              </a:defRPr>
            </a:pPr>
            <a:r>
              <a:t>• Interactive Onboarding Alert: showMarketplaceInfo() gives first-time visitors a 4-step quick guide modal.</a:t>
            </a:r>
          </a:p>
          <a:p>
            <a:pPr>
              <a:spcBef>
                <a:spcPts val="800"/>
              </a:spcBef>
              <a:defRPr sz="1050">
                <a:solidFill>
                  <a:srgbClr val="1C1C1C"/>
                </a:solidFill>
              </a:defRPr>
            </a:pPr>
            <a:r>
              <a:t>• Category Quick-Nav Grid: CSS Grid with repeat(auto-fit, minmax(160px, 1fr)) and smooth hover elevations.</a:t>
            </a:r>
          </a:p>
          <a:p>
            <a:pPr>
              <a:spcBef>
                <a:spcPts val="800"/>
              </a:spcBef>
              <a:defRPr sz="1050">
                <a:solidFill>
                  <a:srgbClr val="1C1C1C"/>
                </a:solidFill>
              </a:defRPr>
            </a:pPr>
            <a:r>
              <a:t>• Array-Driven Featured Cards: Dynamic generation using forEach to create cards linked directly to item.html?id=...</a:t>
            </a:r>
          </a:p>
          <a:p>
            <a:pPr>
              <a:spcBef>
                <a:spcPts val="1400"/>
              </a:spcBef>
              <a:defRPr sz="1100" b="1">
                <a:solidFill>
                  <a:srgbClr val="800000"/>
                </a:solidFill>
              </a:defRPr>
            </a:pPr>
            <a:r>
              <a:t>Modified Class Code (isabella.js):</a:t>
            </a:r>
          </a:p>
          <a:p>
            <a:pPr>
              <a:defRPr sz="850">
                <a:solidFill>
                  <a:srgbClr val="1C1C1C"/>
                </a:solidFill>
                <a:latin typeface="Consolas"/>
              </a:defRPr>
            </a:pPr>
            <a:r>
              <a:t>// Modified from class script.js greeting</a:t>
            </a:r>
            <a:br/>
            <a:r>
              <a:t>window.onload = function() {</a:t>
            </a:r>
            <a:br/>
            <a:r>
              <a:t>  var msg = document.getElementById("welcome-msg");</a:t>
            </a:r>
            <a:br/>
            <a:r>
              <a:t>  if (msg) {</a:t>
            </a:r>
            <a:br/>
            <a:r>
              <a:t>    var h = new Date().getHours();</a:t>
            </a:r>
            <a:br/>
            <a:r>
              <a:t>    var g = (h &lt; 12) ? "Good morning, Cardinal!"</a:t>
            </a:r>
            <a:br/>
            <a:r>
              <a:t>          : (h &lt; 18) ? "Good afternoon, Cardinal!"</a:t>
            </a:r>
            <a:br/>
            <a:r>
              <a:t>          : "Good evening, Cardinal!";</a:t>
            </a:r>
            <a:br/>
            <a:r>
              <a:t>    msg.textContent = g + " Welcome to Cardinal Market.";</a:t>
            </a:r>
            <a:br/>
            <a:r>
              <a:t>    msg.style.color = "#ffd166"; // UIW Gold</a:t>
            </a:r>
            <a:br/>
            <a:r>
              <a:t>  }</a:t>
            </a:r>
            <a:br/>
            <a: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Browse Marketplace (listings.html) — Nathan Ortiz</a:t>
            </a:r>
          </a:p>
        </p:txBody>
      </p:sp>
      <p:pic>
        <p:nvPicPr>
          <p:cNvPr id="3" name="Picture 2" descr="browse_page.png"/>
          <p:cNvPicPr>
            <a:picLocks noChangeAspect="1"/>
          </p:cNvPicPr>
          <p:nvPr/>
        </p:nvPicPr>
        <p:blipFill>
          <a:blip r:embed="rId3"/>
          <a:stretch>
            <a:fillRect/>
          </a:stretch>
        </p:blipFill>
        <p:spPr>
          <a:xfrm>
            <a:off x="731520" y="1280160"/>
            <a:ext cx="5303520" cy="4086319"/>
          </a:xfrm>
          <a:prstGeom prst="rect">
            <a:avLst/>
          </a:prstGeom>
        </p:spPr>
      </p:pic>
      <p:sp>
        <p:nvSpPr>
          <p:cNvPr id="4" name="Rounded Rectangle 3"/>
          <p:cNvSpPr/>
          <p:nvPr/>
        </p:nvSpPr>
        <p:spPr>
          <a:xfrm>
            <a:off x="6217920" y="1280160"/>
            <a:ext cx="5212080" cy="5120640"/>
          </a:xfrm>
          <a:prstGeom prst="roundRect">
            <a:avLst/>
          </a:prstGeom>
          <a:solidFill>
            <a:srgbClr val="FFFFFF"/>
          </a:solidFill>
          <a:ln w="2540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600" b="1">
                <a:solidFill>
                  <a:srgbClr val="C8102E"/>
                </a:solidFill>
              </a:defRPr>
            </a:pPr>
            <a:r>
              <a:t>Reactive Catalog &amp; Filter Logic</a:t>
            </a:r>
          </a:p>
          <a:p>
            <a:pPr>
              <a:spcBef>
                <a:spcPts val="800"/>
              </a:spcBef>
              <a:defRPr sz="1050">
                <a:solidFill>
                  <a:srgbClr val="1C1C1C"/>
                </a:solidFill>
              </a:defRPr>
            </a:pPr>
            <a:r>
              <a:t>• Real-time Search Bar: Listens to input events to instantly filter titles, descriptions, and sellers.</a:t>
            </a:r>
          </a:p>
          <a:p>
            <a:pPr>
              <a:spcBef>
                <a:spcPts val="800"/>
              </a:spcBef>
              <a:defRPr sz="1050">
                <a:solidFill>
                  <a:srgbClr val="1C1C1C"/>
                </a:solidFill>
              </a:defRPr>
            </a:pPr>
            <a:r>
              <a:t>• Multi-criteria Filtering: Combines category dropdown (Textbooks, Dorm, Clothing, Other) with text matching.</a:t>
            </a:r>
          </a:p>
          <a:p>
            <a:pPr>
              <a:spcBef>
                <a:spcPts val="800"/>
              </a:spcBef>
              <a:defRPr sz="1050">
                <a:solidFill>
                  <a:srgbClr val="1C1C1C"/>
                </a:solidFill>
              </a:defRPr>
            </a:pPr>
            <a:r>
              <a:t>• Sorting Engine: Supports price low-to-high, high-to-low, and alphabetical sorting via Array.sort().</a:t>
            </a:r>
          </a:p>
          <a:p>
            <a:pPr>
              <a:spcBef>
                <a:spcPts val="800"/>
              </a:spcBef>
              <a:defRPr sz="1050">
                <a:solidFill>
                  <a:srgbClr val="1C1C1C"/>
                </a:solidFill>
              </a:defRPr>
            </a:pPr>
            <a:r>
              <a:t>• Interactive Favorite Heart: Toggles saved item status and synchronizes with localStorage for the Account page.</a:t>
            </a:r>
          </a:p>
          <a:p>
            <a:pPr>
              <a:spcBef>
                <a:spcPts val="1400"/>
              </a:spcBef>
              <a:defRPr sz="1100" b="1">
                <a:solidFill>
                  <a:srgbClr val="800000"/>
                </a:solidFill>
              </a:defRPr>
            </a:pPr>
            <a:r>
              <a:t>Modified Class Code (nathan.js):</a:t>
            </a:r>
          </a:p>
          <a:p>
            <a:pPr>
              <a:defRPr sz="850">
                <a:solidFill>
                  <a:srgbClr val="1C1C1C"/>
                </a:solidFill>
                <a:latin typeface="Consolas"/>
              </a:defRPr>
            </a:pPr>
            <a:r>
              <a:t>// Real-time multi-criteria filtering</a:t>
            </a:r>
            <a:br/>
            <a:r>
              <a:t>function applyFilters() {</a:t>
            </a:r>
            <a:br/>
            <a:r>
              <a:t>  var q = searchInput.value.toLowerCase().trim();</a:t>
            </a:r>
            <a:br/>
            <a:r>
              <a:t>  var cat = categorySelect.value;</a:t>
            </a:r>
            <a:br/>
            <a:r>
              <a:t>  var filtered = allListings.filter(function(item) {</a:t>
            </a:r>
            <a:br/>
            <a:r>
              <a:t>    var matchCat = (cat === "all") || (item.category === cat);</a:t>
            </a:r>
            <a:br/>
            <a:r>
              <a:t>    var matchSearch = (q === "") || </a:t>
            </a:r>
            <a:br/>
            <a:r>
              <a:t>      item.title.toLowerCase().includes(q) ||</a:t>
            </a:r>
            <a:br/>
            <a:r>
              <a:t>      item.desc.toLowerCase().includes(q);</a:t>
            </a:r>
            <a:br/>
            <a:r>
              <a:t>    return matchCat &amp;&amp; matchSearch;</a:t>
            </a:r>
            <a:br/>
            <a:r>
              <a:t>  });</a:t>
            </a:r>
            <a:br/>
            <a:r>
              <a:t>  renderListings(filtered);</a:t>
            </a:r>
            <a:br/>
            <a: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Item Detail &amp; Messaging (item.html) — Maria Frausto (October Spooky Season 🎃)</a:t>
            </a:r>
          </a:p>
        </p:txBody>
      </p:sp>
      <p:pic>
        <p:nvPicPr>
          <p:cNvPr id="3" name="Picture 2" descr="item_page.png"/>
          <p:cNvPicPr>
            <a:picLocks noChangeAspect="1"/>
          </p:cNvPicPr>
          <p:nvPr/>
        </p:nvPicPr>
        <p:blipFill>
          <a:blip r:embed="rId3"/>
          <a:stretch>
            <a:fillRect/>
          </a:stretch>
        </p:blipFill>
        <p:spPr>
          <a:xfrm>
            <a:off x="731520" y="1280160"/>
            <a:ext cx="5303520" cy="4086319"/>
          </a:xfrm>
          <a:prstGeom prst="rect">
            <a:avLst/>
          </a:prstGeom>
        </p:spPr>
      </p:pic>
      <p:sp>
        <p:nvSpPr>
          <p:cNvPr id="4" name="Rounded Rectangle 3"/>
          <p:cNvSpPr/>
          <p:nvPr/>
        </p:nvSpPr>
        <p:spPr>
          <a:xfrm>
            <a:off x="6217920" y="1280160"/>
            <a:ext cx="5212080" cy="5120640"/>
          </a:xfrm>
          <a:prstGeom prst="roundRect">
            <a:avLst/>
          </a:prstGeom>
          <a:solidFill>
            <a:srgbClr val="FFFFFF"/>
          </a:solidFill>
          <a:ln w="2540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500" b="1">
                <a:solidFill>
                  <a:srgbClr val="C8102E"/>
                </a:solidFill>
              </a:defRPr>
            </a:pPr>
            <a:r>
              <a:t>October Spooky Season: Inspection, Offers &amp; Messaging</a:t>
            </a:r>
          </a:p>
          <a:p>
            <a:pPr>
              <a:defRPr sz="1000">
                <a:solidFill>
                  <a:srgbClr val="1C1C1C"/>
                </a:solidFill>
              </a:defRPr>
            </a:pPr>
            <a:r>
              <a:rPr b="1" sz="1000">
                <a:solidFill>
                  <a:srgbClr val="800000"/>
                </a:solidFill>
              </a:rPr>
              <a:t>• October Spooky Feature: </a:t>
            </a:r>
            <a:r>
              <a:rPr b="0" sz="1000">
                <a:solidFill>
                  <a:srgbClr val="1C1C1C"/>
                </a:solidFill>
              </a:rPr>
              <a:t>"Halloween Mystery Boo Pack: Spooky Dorm Treats &amp; Tiny Terrors" ($18, Spooktacular Find badge, curator Maria Frausto).</a:t>
            </a:r>
          </a:p>
          <a:p>
            <a:pPr>
              <a:defRPr sz="1000">
                <a:solidFill>
                  <a:srgbClr val="1C1C1C"/>
                </a:solidFill>
              </a:defRPr>
            </a:pPr>
            <a:r>
              <a:rPr b="1" sz="1000">
                <a:solidFill>
                  <a:srgbClr val="800000"/>
                </a:solidFill>
              </a:rPr>
              <a:t>• Spooky SVG Gallery: </a:t>
            </a:r>
            <a:r>
              <a:rPr b="0" sz="1000">
                <a:solidFill>
                  <a:srgbClr val="1C1C1C"/>
                </a:solidFill>
              </a:rPr>
              <a:t>Three clickable custom thumbnails (spooky-pack, ghost-buddy, pumpkin-stickers) swap the main image with fade &amp; zoom modal.</a:t>
            </a:r>
          </a:p>
          <a:p>
            <a:pPr>
              <a:defRPr sz="1000">
                <a:solidFill>
                  <a:srgbClr val="1C1C1C"/>
                </a:solidFill>
              </a:defRPr>
            </a:pPr>
            <a:r>
              <a:rPr b="1" sz="1000">
                <a:solidFill>
                  <a:srgbClr val="800000"/>
                </a:solidFill>
              </a:rPr>
              <a:t>• Spooky Offer Calculations: </a:t>
            </a:r>
            <a:r>
              <a:rPr b="0" sz="1000">
                <a:solidFill>
                  <a:srgbClr val="1C1C1C"/>
                </a:solidFill>
              </a:rPr>
              <a:t>Dynamic Offer 10% 🎃, 20% 👻, and 25% 🦇 buttons compute Math.round(price * (1 - discount)) and confirm treat offer.</a:t>
            </a:r>
          </a:p>
          <a:p>
            <a:pPr>
              <a:defRPr sz="1000">
                <a:solidFill>
                  <a:srgbClr val="1C1C1C"/>
                </a:solidFill>
              </a:defRPr>
            </a:pPr>
            <a:r>
              <a:rPr b="1" sz="1000">
                <a:solidFill>
                  <a:srgbClr val="800000"/>
                </a:solidFill>
              </a:rPr>
              <a:t>• Messaging &amp; Saving: </a:t>
            </a:r>
            <a:r>
              <a:rPr b="0" sz="1000">
                <a:solidFill>
                  <a:srgbClr val="1C1C1C"/>
                </a:solidFill>
              </a:rPr>
              <a:t>Modal with 300-char live counter saves messages to localStorage for account.html; heart toggles Save Item.</a:t>
            </a:r>
          </a:p>
          <a:p>
            <a:pPr>
              <a:defRPr sz="1000">
                <a:solidFill>
                  <a:srgbClr val="1C1C1C"/>
                </a:solidFill>
              </a:defRPr>
            </a:pPr>
            <a:r>
              <a:rPr b="1" sz="1000">
                <a:solidFill>
                  <a:srgbClr val="800000"/>
                </a:solidFill>
              </a:rPr>
              <a:t>• UIW Safety &amp; Halloween Styling: </a:t>
            </a:r>
            <a:r>
              <a:rPr b="0" sz="1000">
                <a:solidFill>
                  <a:srgbClr val="1C1C1C"/>
                </a:solidFill>
              </a:rPr>
              <a:t>maria.css scoped theme in midnight purple (#1b1035) &amp; pumpkin orange (#ff8c24); safe meetup at Mabee Library.</a:t>
            </a:r>
          </a:p>
          <a:p>
            <a:pPr>
              <a:defRPr sz="1050" b="1">
                <a:solidFill>
                  <a:srgbClr val="800000"/>
                </a:solidFill>
              </a:defRPr>
            </a:pPr>
            <a:r>
              <a:t>Modified Class Code (maria.js - sayHello input/feedback pattern):</a:t>
            </a:r>
          </a:p>
          <a:p>
            <a:pPr>
              <a:defRPr sz="850">
                <a:solidFill>
                  <a:srgbClr val="1C1C1C"/>
                </a:solidFill>
                <a:latin typeface="Consolas"/>
              </a:defRPr>
            </a:pPr>
            <a:r>
              <a:t>// Modified from class sayHello.js: read input, calculate discount, give instant feedback</a:t>
            </a:r>
            <a:br/>
            <a:r>
              <a:t>btn.addEventListener("click", function () {</a:t>
            </a:r>
            <a:br/>
            <a:r>
              <a:t>  var discount = parseFloat(btn.getAttribute("data-discount"));</a:t>
            </a:r>
            <a:br/>
            <a:r>
              <a:t>  var offerPrice = Math.round(item.price * (1 - discount));</a:t>
            </a:r>
            <a:br/>
            <a:r>
              <a:t>  offerResult.innerHTML = "🎃 Spooky treat offer: $" + offerPrice + " (Save " + (discount * 100) + "%)!";</a:t>
            </a:r>
            <a:br/>
            <a:r>
              <a:t>  customOfferInput.value = offerPrice;</a:t>
            </a:r>
            <a:br/>
            <a: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Sell Form &amp; Live Preview (sell.html) — Sophia Gomez</a:t>
            </a:r>
          </a:p>
        </p:txBody>
      </p:sp>
      <p:pic>
        <p:nvPicPr>
          <p:cNvPr id="3" name="Picture 2" descr="sell_page.png"/>
          <p:cNvPicPr>
            <a:picLocks noChangeAspect="1"/>
          </p:cNvPicPr>
          <p:nvPr/>
        </p:nvPicPr>
        <p:blipFill>
          <a:blip r:embed="rId3"/>
          <a:stretch>
            <a:fillRect/>
          </a:stretch>
        </p:blipFill>
        <p:spPr>
          <a:xfrm>
            <a:off x="731520" y="1280160"/>
            <a:ext cx="5303520" cy="4086319"/>
          </a:xfrm>
          <a:prstGeom prst="rect">
            <a:avLst/>
          </a:prstGeom>
        </p:spPr>
      </p:pic>
      <p:sp>
        <p:nvSpPr>
          <p:cNvPr id="4" name="Rounded Rectangle 3"/>
          <p:cNvSpPr/>
          <p:nvPr/>
        </p:nvSpPr>
        <p:spPr>
          <a:xfrm>
            <a:off x="6217920" y="1280160"/>
            <a:ext cx="5212080" cy="5120640"/>
          </a:xfrm>
          <a:prstGeom prst="roundRect">
            <a:avLst/>
          </a:prstGeom>
          <a:solidFill>
            <a:srgbClr val="FFFFFF"/>
          </a:solidFill>
          <a:ln w="2540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600" b="1">
                <a:solidFill>
                  <a:srgbClr val="C8102E"/>
                </a:solidFill>
              </a:defRPr>
            </a:pPr>
            <a:r>
              <a:t>Form Engineering &amp; Celebration Physics</a:t>
            </a:r>
          </a:p>
          <a:p>
            <a:pPr>
              <a:spcBef>
                <a:spcPts val="800"/>
              </a:spcBef>
              <a:defRPr sz="1050">
                <a:solidFill>
                  <a:srgbClr val="1C1C1C"/>
                </a:solidFill>
              </a:defRPr>
            </a:pPr>
            <a:r>
              <a:t>• Live Form Preview (hw4): Typing in the title, price, category, or condition updates the preview card instantly in real time.</a:t>
            </a:r>
          </a:p>
          <a:p>
            <a:pPr>
              <a:spcBef>
                <a:spcPts val="800"/>
              </a:spcBef>
              <a:defRPr sz="1050">
                <a:solidFill>
                  <a:srgbClr val="1C1C1C"/>
                </a:solidFill>
              </a:defRPr>
            </a:pPr>
            <a:r>
              <a:t>• HTML5 File API Image Upload: URL.createObjectURL(file) displays local photos immediately before submission.</a:t>
            </a:r>
          </a:p>
          <a:p>
            <a:pPr>
              <a:spcBef>
                <a:spcPts val="800"/>
              </a:spcBef>
              <a:defRPr sz="1050">
                <a:solidFill>
                  <a:srgbClr val="1C1C1C"/>
                </a:solidFill>
              </a:defRPr>
            </a:pPr>
            <a:r>
              <a:t>• Form Validation: Requires positive price values and non-empty titles with helpful error prompts.</a:t>
            </a:r>
          </a:p>
          <a:p>
            <a:pPr>
              <a:spcBef>
                <a:spcPts val="800"/>
              </a:spcBef>
              <a:defRPr sz="1050">
                <a:solidFill>
                  <a:srgbClr val="1C1C1C"/>
                </a:solidFill>
              </a:defRPr>
            </a:pPr>
            <a:r>
              <a:t>• Sophia Confetti Engine: Generates 150 celebratory particles in UIW colors with randomized CSS variables.</a:t>
            </a:r>
          </a:p>
          <a:p>
            <a:pPr>
              <a:spcBef>
                <a:spcPts val="1400"/>
              </a:spcBef>
              <a:defRPr sz="1100" b="1">
                <a:solidFill>
                  <a:srgbClr val="800000"/>
                </a:solidFill>
              </a:defRPr>
            </a:pPr>
            <a:r>
              <a:t>Modified Class Code (sophia.js):</a:t>
            </a:r>
          </a:p>
          <a:p>
            <a:pPr>
              <a:defRPr sz="850">
                <a:solidFill>
                  <a:srgbClr val="1C1C1C"/>
                </a:solidFill>
                <a:latin typeface="Consolas"/>
              </a:defRPr>
            </a:pPr>
            <a:r>
              <a:t>// Live reactive preview binding</a:t>
            </a:r>
            <a:br/>
            <a:r>
              <a:t>titleInput.addEventListener("input", updateListingPreview);</a:t>
            </a:r>
            <a:br/>
            <a:r>
              <a:t>priceInput.addEventListener("input", function() {</a:t>
            </a:r>
            <a:br/>
            <a:r>
              <a:t>  var p = Number(priceInput.value);</a:t>
            </a:r>
            <a:br/>
            <a:r>
              <a:t>  previewPrice.textContent = (p &gt;= 0) </a:t>
            </a:r>
            <a:br/>
            <a:r>
              <a:t>    ? p.toLocaleString("en-US", {style:"currency", currency:"USD"}) </a:t>
            </a:r>
            <a:br/>
            <a:r>
              <a:t>    : "$0.00";</a:t>
            </a:r>
            <a:br/>
            <a:r>
              <a:t>});</a:t>
            </a:r>
            <a:br/>
            <a:r>
              <a:t>// 150-particle randomized Cardinal confetti on publish</a:t>
            </a:r>
            <a:br/>
            <a:r>
              <a:t>launchConfetti();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Account Dashboard (account.html) — Isabella Gomez</a:t>
            </a:r>
          </a:p>
        </p:txBody>
      </p:sp>
      <p:pic>
        <p:nvPicPr>
          <p:cNvPr id="3" name="Picture 2" descr="account_page.png"/>
          <p:cNvPicPr>
            <a:picLocks noChangeAspect="1"/>
          </p:cNvPicPr>
          <p:nvPr/>
        </p:nvPicPr>
        <p:blipFill>
          <a:blip r:embed="rId3"/>
          <a:stretch>
            <a:fillRect/>
          </a:stretch>
        </p:blipFill>
        <p:spPr>
          <a:xfrm>
            <a:off x="731520" y="1280160"/>
            <a:ext cx="5303520" cy="4086319"/>
          </a:xfrm>
          <a:prstGeom prst="rect">
            <a:avLst/>
          </a:prstGeom>
        </p:spPr>
      </p:pic>
      <p:sp>
        <p:nvSpPr>
          <p:cNvPr id="4" name="Rounded Rectangle 3"/>
          <p:cNvSpPr/>
          <p:nvPr/>
        </p:nvSpPr>
        <p:spPr>
          <a:xfrm>
            <a:off x="6217920" y="1280160"/>
            <a:ext cx="5212080" cy="5120640"/>
          </a:xfrm>
          <a:prstGeom prst="roundRect">
            <a:avLst/>
          </a:prstGeom>
          <a:solidFill>
            <a:srgbClr val="FFFFFF"/>
          </a:solidFill>
          <a:ln w="2540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600" b="1">
                <a:solidFill>
                  <a:srgbClr val="C8102E"/>
                </a:solidFill>
              </a:defRPr>
            </a:pPr>
            <a:r>
              <a:t>Dashboard Management &amp; State Sync</a:t>
            </a:r>
          </a:p>
          <a:p>
            <a:pPr>
              <a:spcBef>
                <a:spcPts val="800"/>
              </a:spcBef>
              <a:defRPr sz="1050">
                <a:solidFill>
                  <a:srgbClr val="1C1C1C"/>
                </a:solidFill>
              </a:defRPr>
            </a:pPr>
            <a:r>
              <a:t>• Profile Name Customization: Allows editing student name with prompt() and persists across page reloads via localStorage.</a:t>
            </a:r>
          </a:p>
          <a:p>
            <a:pPr>
              <a:spcBef>
                <a:spcPts val="800"/>
              </a:spcBef>
              <a:defRPr sz="1050">
                <a:solidFill>
                  <a:srgbClr val="1C1C1C"/>
                </a:solidFill>
              </a:defRPr>
            </a:pPr>
            <a:r>
              <a:t>• Active Listings Management: Students can add listings inline or remove active ones with smooth fade-out CSS transitions.</a:t>
            </a:r>
          </a:p>
          <a:p>
            <a:pPr>
              <a:spcBef>
                <a:spcPts val="800"/>
              </a:spcBef>
              <a:defRPr sz="1050">
                <a:solidFill>
                  <a:srgbClr val="1C1C1C"/>
                </a:solidFill>
              </a:defRPr>
            </a:pPr>
            <a:r>
              <a:t>• Event Delegation (hw7): A single listener on the parent &lt;ul&gt; handles remove clicks on both existing and newly added items.</a:t>
            </a:r>
          </a:p>
          <a:p>
            <a:pPr>
              <a:spcBef>
                <a:spcPts val="800"/>
              </a:spcBef>
              <a:defRPr sz="1050">
                <a:solidFill>
                  <a:srgbClr val="1C1C1C"/>
                </a:solidFill>
              </a:defRPr>
            </a:pPr>
            <a:r>
              <a:t>• Cross-Page Synchronization: Automatically displays saved favorites from Browse and messages sent from the Item Detail page.</a:t>
            </a:r>
          </a:p>
          <a:p>
            <a:pPr>
              <a:spcBef>
                <a:spcPts val="1400"/>
              </a:spcBef>
              <a:defRPr sz="1100" b="1">
                <a:solidFill>
                  <a:srgbClr val="800000"/>
                </a:solidFill>
              </a:defRPr>
            </a:pPr>
            <a:r>
              <a:t>Modified Class Code (isabella.js):</a:t>
            </a:r>
          </a:p>
          <a:p>
            <a:pPr>
              <a:defRPr sz="850">
                <a:solidFill>
                  <a:srgbClr val="1C1C1C"/>
                </a:solidFill>
                <a:latin typeface="Consolas"/>
              </a:defRPr>
            </a:pPr>
            <a:r>
              <a:t>// Event delegation for dynamic remove buttons</a:t>
            </a:r>
            <a:br/>
            <a:r>
              <a:t>myListings.addEventListener("click", function(e) {</a:t>
            </a:r>
            <a:br/>
            <a:r>
              <a:t>  if (e.target.classList.contains("remove-btn")) {</a:t>
            </a:r>
            <a:br/>
            <a:r>
              <a:t>    var row = e.target.closest("li");</a:t>
            </a:r>
            <a:br/>
            <a:r>
              <a:t>    if (confirm("Remove this listing?")) {</a:t>
            </a:r>
            <a:br/>
            <a:r>
              <a:t>      row.classList.add("fading");</a:t>
            </a:r>
            <a:br/>
            <a:r>
              <a:t>      setTimeout(function() { row.remove(); updateListingCount(); }, 300);</a:t>
            </a:r>
            <a:br/>
            <a:r>
              <a:t>    }</a:t>
            </a:r>
            <a:br/>
            <a:r>
              <a:t>  }</a:t>
            </a:r>
            <a:br/>
            <a: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Technical Implementation Breakdown (5% Oral Defense)</a:t>
            </a:r>
          </a:p>
        </p:txBody>
      </p:sp>
      <p:sp>
        <p:nvSpPr>
          <p:cNvPr id="3" name="Rounded Rectangle 2"/>
          <p:cNvSpPr/>
          <p:nvPr/>
        </p:nvSpPr>
        <p:spPr>
          <a:xfrm>
            <a:off x="731520" y="1371600"/>
            <a:ext cx="3328416" cy="4846320"/>
          </a:xfrm>
          <a:prstGeom prst="roundRect">
            <a:avLst/>
          </a:prstGeom>
          <a:solidFill>
            <a:srgbClr val="FFFFFF"/>
          </a:solidFill>
          <a:ln w="2540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365760" rIns="274320" rtlCol="0" anchor="ctr"/>
          <a:lstStyle/>
          <a:p>
            <a:pPr algn="ctr">
              <a:defRPr sz="1600" b="1">
                <a:solidFill>
                  <a:srgbClr val="C8102E"/>
                </a:solidFill>
              </a:defRPr>
            </a:pPr>
            <a:r>
              <a:t>HTML5 Structure</a:t>
            </a:r>
          </a:p>
          <a:p>
            <a:pPr>
              <a:spcBef>
                <a:spcPts val="1400"/>
              </a:spcBef>
              <a:defRPr sz="1100">
                <a:solidFill>
                  <a:srgbClr val="1C1C1C"/>
                </a:solidFill>
              </a:defRPr>
            </a:pPr>
            <a:r>
              <a:t>• Semantic Tags: Replaced generic &lt;div&gt; wrappers with &lt;header&gt;, &lt;nav&gt;, &lt;main&gt;, &lt;section&gt;, &lt;article&gt;, &lt;aside&gt;, and &lt;footer&gt;.</a:t>
            </a:r>
          </a:p>
          <a:p>
            <a:pPr>
              <a:spcBef>
                <a:spcPts val="1400"/>
              </a:spcBef>
              <a:defRPr sz="1100">
                <a:solidFill>
                  <a:srgbClr val="1C1C1C"/>
                </a:solidFill>
              </a:defRPr>
            </a:pPr>
            <a:r>
              <a:t>• Accessible Forms: Clean &lt;label for=...&gt; associations, ARIA roles (role=dialog, aria-live=polite, aria-modal=true).</a:t>
            </a:r>
          </a:p>
          <a:p>
            <a:pPr>
              <a:spcBef>
                <a:spcPts val="1400"/>
              </a:spcBef>
              <a:defRPr sz="1100">
                <a:solidFill>
                  <a:srgbClr val="1C1C1C"/>
                </a:solidFill>
              </a:defRPr>
            </a:pPr>
            <a:r>
              <a:t>• SEO &amp; Meta Tags: Viewport configuration, UTF-8 charset, descriptive page titles, and image alt text throughout.</a:t>
            </a:r>
          </a:p>
        </p:txBody>
      </p:sp>
      <p:sp>
        <p:nvSpPr>
          <p:cNvPr id="4" name="Rounded Rectangle 3"/>
          <p:cNvSpPr/>
          <p:nvPr/>
        </p:nvSpPr>
        <p:spPr>
          <a:xfrm>
            <a:off x="4334256" y="1371600"/>
            <a:ext cx="3328416" cy="4846320"/>
          </a:xfrm>
          <a:prstGeom prst="roundRect">
            <a:avLst/>
          </a:prstGeom>
          <a:solidFill>
            <a:srgbClr val="FFFFFF"/>
          </a:solidFill>
          <a:ln w="25400">
            <a:solidFill>
              <a:srgbClr val="800000"/>
            </a:solidFill>
          </a:ln>
        </p:spPr>
        <p:style>
          <a:lnRef idx="1">
            <a:schemeClr val="accent1"/>
          </a:lnRef>
          <a:fillRef idx="3">
            <a:schemeClr val="accent1"/>
          </a:fillRef>
          <a:effectRef idx="2">
            <a:schemeClr val="accent1"/>
          </a:effectRef>
          <a:fontRef idx="minor">
            <a:schemeClr val="lt1"/>
          </a:fontRef>
        </p:style>
        <p:txBody>
          <a:bodyPr wrap="square" lIns="274320" tIns="365760" rIns="274320" rtlCol="0" anchor="ctr"/>
          <a:lstStyle/>
          <a:p>
            <a:pPr algn="ctr">
              <a:defRPr sz="1600" b="1">
                <a:solidFill>
                  <a:srgbClr val="800000"/>
                </a:solidFill>
              </a:defRPr>
            </a:pPr>
            <a:r>
              <a:t>CSS3 Architecture</a:t>
            </a:r>
          </a:p>
          <a:p>
            <a:pPr>
              <a:spcBef>
                <a:spcPts val="1400"/>
              </a:spcBef>
              <a:defRPr sz="1100">
                <a:solidFill>
                  <a:srgbClr val="1C1C1C"/>
                </a:solidFill>
              </a:defRPr>
            </a:pPr>
            <a:r>
              <a:t>• Three-Tier Hierarchy: External shared (main.css) + External student files (nathan.css, maria.css, etc.) + Internal &lt;style&gt;.</a:t>
            </a:r>
          </a:p>
          <a:p>
            <a:pPr>
              <a:spcBef>
                <a:spcPts val="1400"/>
              </a:spcBef>
              <a:defRPr sz="1100">
                <a:solidFill>
                  <a:srgbClr val="1C1C1C"/>
                </a:solidFill>
              </a:defRPr>
            </a:pPr>
            <a:r>
              <a:t>• CSS Custom Properties: Centralized :root variables (--cardinal, --cardinal-dark, --light, --dark) for consistent theming.</a:t>
            </a:r>
          </a:p>
          <a:p>
            <a:pPr>
              <a:spcBef>
                <a:spcPts val="1400"/>
              </a:spcBef>
              <a:defRPr sz="1100">
                <a:solidFill>
                  <a:srgbClr val="1C1C1C"/>
                </a:solidFill>
              </a:defRPr>
            </a:pPr>
            <a:r>
              <a:t>• Modern Responsive Layouts: CSS Grid with auto-fill/minmax and Flexbox. Responsive media queries at 768px and 820px breakpoints.</a:t>
            </a:r>
          </a:p>
        </p:txBody>
      </p:sp>
      <p:sp>
        <p:nvSpPr>
          <p:cNvPr id="5" name="Rounded Rectangle 4"/>
          <p:cNvSpPr/>
          <p:nvPr/>
        </p:nvSpPr>
        <p:spPr>
          <a:xfrm>
            <a:off x="7936992" y="1371600"/>
            <a:ext cx="3328416" cy="4846320"/>
          </a:xfrm>
          <a:prstGeom prst="roundRect">
            <a:avLst/>
          </a:prstGeom>
          <a:solidFill>
            <a:srgbClr val="FFFFFF"/>
          </a:solidFill>
          <a:ln w="25400">
            <a:solidFill>
              <a:srgbClr val="1C1C1C"/>
            </a:solidFill>
          </a:ln>
        </p:spPr>
        <p:style>
          <a:lnRef idx="1">
            <a:schemeClr val="accent1"/>
          </a:lnRef>
          <a:fillRef idx="3">
            <a:schemeClr val="accent1"/>
          </a:fillRef>
          <a:effectRef idx="2">
            <a:schemeClr val="accent1"/>
          </a:effectRef>
          <a:fontRef idx="minor">
            <a:schemeClr val="lt1"/>
          </a:fontRef>
        </p:style>
        <p:txBody>
          <a:bodyPr wrap="square" lIns="274320" tIns="365760" rIns="274320" rtlCol="0" anchor="ctr"/>
          <a:lstStyle/>
          <a:p>
            <a:pPr algn="ctr">
              <a:defRPr sz="1600" b="1">
                <a:solidFill>
                  <a:srgbClr val="1C1C1C"/>
                </a:solidFill>
              </a:defRPr>
            </a:pPr>
            <a:r>
              <a:t>JavaScript Engine</a:t>
            </a:r>
          </a:p>
          <a:p>
            <a:pPr>
              <a:spcBef>
                <a:spcPts val="1400"/>
              </a:spcBef>
              <a:defRPr sz="1100">
                <a:solidFill>
                  <a:srgbClr val="1C1C1C"/>
                </a:solidFill>
              </a:defRPr>
            </a:pPr>
            <a:r>
              <a:t>• DOM Manipulation: Element selection via getElementById and querySelectorAll; creation via createElement and appendChild.</a:t>
            </a:r>
          </a:p>
          <a:p>
            <a:pPr>
              <a:spcBef>
                <a:spcPts val="1400"/>
              </a:spcBef>
              <a:defRPr sz="1100">
                <a:solidFill>
                  <a:srgbClr val="1C1C1C"/>
                </a:solidFill>
              </a:defRPr>
            </a:pPr>
            <a:r>
              <a:t>• Event Architecture: Reactive listeners for input, change, click, keydown, and window load events.</a:t>
            </a:r>
          </a:p>
          <a:p>
            <a:pPr>
              <a:spcBef>
                <a:spcPts val="1400"/>
              </a:spcBef>
              <a:defRPr sz="1100">
                <a:solidFill>
                  <a:srgbClr val="1C1C1C"/>
                </a:solidFill>
              </a:defRPr>
            </a:pPr>
            <a:r>
              <a:t>• State &amp; Persistence: localStorage synchronization for custom listings, user favorites, and seller messages.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Live Sandbox Demo Walkthrough Guide (Step-by-Step)</a:t>
            </a:r>
          </a:p>
        </p:txBody>
      </p:sp>
      <p:sp>
        <p:nvSpPr>
          <p:cNvPr id="3" name="Rounded Rectangle 2"/>
          <p:cNvSpPr/>
          <p:nvPr/>
        </p:nvSpPr>
        <p:spPr>
          <a:xfrm>
            <a:off x="731520" y="1280160"/>
            <a:ext cx="10728655" cy="868680"/>
          </a:xfrm>
          <a:prstGeom prst="roundRect">
            <a:avLst/>
          </a:prstGeom>
          <a:solidFill>
            <a:srgbClr val="FFFFFF"/>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128016" rtlCol="0" anchor="ctr"/>
          <a:lstStyle/>
          <a:p>
            <a:pPr algn="ctr">
              <a:defRPr sz="1300" b="1">
                <a:solidFill>
                  <a:srgbClr val="C8102E"/>
                </a:solidFill>
              </a:defRPr>
            </a:pPr>
            <a:r>
              <a:t>Step 1: Landing on Home (index.html)</a:t>
            </a:r>
          </a:p>
          <a:p>
            <a:pPr>
              <a:spcBef>
                <a:spcPts val="300"/>
              </a:spcBef>
              <a:defRPr sz="1100">
                <a:solidFill>
                  <a:srgbClr val="1C1C1C"/>
                </a:solidFill>
              </a:defRPr>
            </a:pPr>
            <a:r>
              <a:t>Open the home page. Observe the greeting change according to the current time of day. Click How it works to view onboarding alert modal, then explore the featured cards.</a:t>
            </a:r>
          </a:p>
        </p:txBody>
      </p:sp>
      <p:sp>
        <p:nvSpPr>
          <p:cNvPr id="4" name="Rounded Rectangle 3"/>
          <p:cNvSpPr/>
          <p:nvPr/>
        </p:nvSpPr>
        <p:spPr>
          <a:xfrm>
            <a:off x="731520" y="2313432"/>
            <a:ext cx="10728655" cy="8686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wrap="square" lIns="274320" tIns="128016" rtlCol="0" anchor="ctr"/>
          <a:lstStyle/>
          <a:p>
            <a:pPr algn="ctr">
              <a:defRPr sz="1300" b="1">
                <a:solidFill>
                  <a:srgbClr val="16A34A"/>
                </a:solidFill>
              </a:defRPr>
            </a:pPr>
            <a:r>
              <a:t>Step 2: Browsing &amp; Filtering (listings.html)</a:t>
            </a:r>
          </a:p>
          <a:p>
            <a:pPr>
              <a:spcBef>
                <a:spcPts val="300"/>
              </a:spcBef>
              <a:defRPr sz="1100">
                <a:solidFill>
                  <a:srgbClr val="1C1C1C"/>
                </a:solidFill>
              </a:defRPr>
            </a:pPr>
            <a:r>
              <a:t>Click Browse in the nav. Type lamp in the search box to watch instant real-time filtering. Change category dropdown to Textbooks, sort by price, and click the heart icon on a card to save it.</a:t>
            </a:r>
          </a:p>
        </p:txBody>
      </p:sp>
      <p:sp>
        <p:nvSpPr>
          <p:cNvPr id="5" name="Rounded Rectangle 4"/>
          <p:cNvSpPr/>
          <p:nvPr/>
        </p:nvSpPr>
        <p:spPr>
          <a:xfrm>
            <a:off x="731520" y="3346704"/>
            <a:ext cx="10728655" cy="868680"/>
          </a:xfrm>
          <a:prstGeom prst="roundRect">
            <a:avLst/>
          </a:prstGeom>
          <a:solidFill>
            <a:srgbClr val="FFFFFF"/>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128016" rtlCol="0" anchor="ctr"/>
          <a:lstStyle/>
          <a:p>
            <a:pPr algn="ctr">
              <a:defRPr sz="1300" b="1">
                <a:solidFill>
                  <a:srgbClr val="C8102E"/>
                </a:solidFill>
              </a:defRPr>
            </a:pPr>
            <a:r>
              <a:t>Step 3: Item Detail &amp; Halloween Boo Pack (item.html)</a:t>
            </a:r>
          </a:p>
          <a:p>
            <a:pPr>
              <a:spcBef>
                <a:spcPts val="300"/>
              </a:spcBef>
              <a:defRPr sz="1100">
                <a:solidFill>
                  <a:srgbClr val="1C1C1C"/>
                </a:solidFill>
              </a:defRPr>
            </a:pPr>
            <a:r>
              <a:t>Click View Item on the 'Halloween Mystery Boo Pack' (or direct nav). Click different spooky gallery thumbnails (ghost buddy, pumpkin stickers) to watch the smooth image swap and zoom modal. Click 'Offer 20% Off 👻' to watch dynamic discount math populate the offer field ($14), and send an offer alert. Open 'Message Seller' to see the live 300-char countdown and send a message saved to localStorage.</a:t>
            </a:r>
          </a:p>
        </p:txBody>
      </p:sp>
      <p:sp>
        <p:nvSpPr>
          <p:cNvPr id="6" name="Rounded Rectangle 5"/>
          <p:cNvSpPr/>
          <p:nvPr/>
        </p:nvSpPr>
        <p:spPr>
          <a:xfrm>
            <a:off x="731520" y="4379976"/>
            <a:ext cx="10728655" cy="8686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wrap="square" lIns="274320" tIns="128016" rtlCol="0" anchor="ctr"/>
          <a:lstStyle/>
          <a:p>
            <a:pPr algn="ctr">
              <a:defRPr sz="1300" b="1">
                <a:solidFill>
                  <a:srgbClr val="16A34A"/>
                </a:solidFill>
              </a:defRPr>
            </a:pPr>
            <a:r>
              <a:t>Step 4: Posting a New Listing (sell.html)</a:t>
            </a:r>
          </a:p>
          <a:p>
            <a:pPr>
              <a:spcBef>
                <a:spcPts val="300"/>
              </a:spcBef>
              <a:defRPr sz="1100">
                <a:solidFill>
                  <a:srgbClr val="1C1C1C"/>
                </a:solidFill>
              </a:defRPr>
            </a:pPr>
            <a:r>
              <a:t>Click Sell in the nav. Fill out an item title and price. Notice the live listing preview updating keystroke-by-keystroke. Click Preview My Listing to launch Sophia 150-particle confetti animation.</a:t>
            </a:r>
          </a:p>
        </p:txBody>
      </p:sp>
      <p:sp>
        <p:nvSpPr>
          <p:cNvPr id="7" name="Rounded Rectangle 6"/>
          <p:cNvSpPr/>
          <p:nvPr/>
        </p:nvSpPr>
        <p:spPr>
          <a:xfrm>
            <a:off x="731520" y="5413248"/>
            <a:ext cx="10728655" cy="868680"/>
          </a:xfrm>
          <a:prstGeom prst="roundRect">
            <a:avLst/>
          </a:prstGeom>
          <a:solidFill>
            <a:srgbClr val="FFFFFF"/>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128016" rtlCol="0" anchor="ctr"/>
          <a:lstStyle/>
          <a:p>
            <a:pPr algn="ctr">
              <a:defRPr sz="1300" b="1">
                <a:solidFill>
                  <a:srgbClr val="C8102E"/>
                </a:solidFill>
              </a:defRPr>
            </a:pPr>
            <a:r>
              <a:t>Step 5: Account Dashboard Verification (account.html)</a:t>
            </a:r>
          </a:p>
          <a:p>
            <a:pPr>
              <a:spcBef>
                <a:spcPts val="300"/>
              </a:spcBef>
              <a:defRPr sz="1100">
                <a:solidFill>
                  <a:srgbClr val="1C1C1C"/>
                </a:solidFill>
              </a:defRPr>
            </a:pPr>
            <a:r>
              <a:t>Click Account in the nav. Click Edit Name to change your student name. Verify that your newly published listing, favorited items, and sent seller message appear in the dashboard.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C8102E"/>
          </a:solidFill>
          <a:ln>
            <a:solidFill>
              <a:srgbClr val="C8102E"/>
            </a:solid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FFD166"/>
                </a:solidFill>
              </a:defRPr>
            </a:pPr>
            <a:r>
              <a:t>CIS 2368 MIDTERM PROJECT - SANDBOX WEBSITE</a:t>
            </a:r>
          </a:p>
          <a:p>
            <a:pPr>
              <a:defRPr sz="2200" b="1">
                <a:solidFill>
                  <a:srgbClr val="FFFFFF"/>
                </a:solidFill>
              </a:defRPr>
            </a:pPr>
            <a:r>
              <a:t>Team Contributions, Learnings &amp; Future Roadmap</a:t>
            </a:r>
          </a:p>
        </p:txBody>
      </p:sp>
      <p:sp>
        <p:nvSpPr>
          <p:cNvPr id="3" name="Rounded Rectangle 2"/>
          <p:cNvSpPr/>
          <p:nvPr/>
        </p:nvSpPr>
        <p:spPr>
          <a:xfrm>
            <a:off x="731520" y="1371600"/>
            <a:ext cx="5120640" cy="4846320"/>
          </a:xfrm>
          <a:prstGeom prst="roundRect">
            <a:avLst/>
          </a:prstGeom>
          <a:solidFill>
            <a:srgbClr val="FFFFFF"/>
          </a:solidFill>
          <a:ln w="25400">
            <a:solidFill>
              <a:srgbClr val="C8102E"/>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600" b="1">
                <a:solidFill>
                  <a:srgbClr val="C8102E"/>
                </a:solidFill>
              </a:defRPr>
            </a:pPr>
            <a:r>
              <a:t>Team Division of Labor</a:t>
            </a:r>
          </a:p>
          <a:p>
            <a:pPr>
              <a:spcBef>
                <a:spcPts val="800"/>
              </a:spcBef>
              <a:defRPr sz="1050">
                <a:solidFill>
                  <a:srgbClr val="1C1C1C"/>
                </a:solidFill>
              </a:defRPr>
            </a:pPr>
            <a:r>
              <a:t>• Isabella Gomez: index.html &amp; account.html | isabella.css &amp; isabella.js. Built greeting, category navigation, dashboard management, and list delegation.</a:t>
            </a:r>
          </a:p>
          <a:p>
            <a:pPr>
              <a:spcBef>
                <a:spcPts val="800"/>
              </a:spcBef>
              <a:defRPr sz="1050">
                <a:solidFill>
                  <a:srgbClr val="1C1C1C"/>
                </a:solidFill>
              </a:defRPr>
            </a:pPr>
            <a:r>
              <a:t>• Nathan Ortiz: listings.html | nathan.css &amp; nathan.js. Built catalog search engine, category filter logic, sorting algorithms, and favorite persistence.</a:t>
            </a:r>
          </a:p>
          <a:p>
            <a:pPr>
              <a:spcBef>
                <a:spcPts val="800"/>
              </a:spcBef>
              <a:defRPr sz="1050">
                <a:solidFill>
                  <a:srgbClr val="1C1C1C"/>
                </a:solidFill>
              </a:defRPr>
            </a:pPr>
            <a:r>
              <a:t>• Maria Frausto: item.html | maria.css &amp; maria.js. Built URL parameter routing, photo thumbnail switcher, campus safety guide, and messaging modal.</a:t>
            </a:r>
          </a:p>
          <a:p>
            <a:pPr>
              <a:spcBef>
                <a:spcPts val="800"/>
              </a:spcBef>
              <a:defRPr sz="1050">
                <a:solidFill>
                  <a:srgbClr val="1C1C1C"/>
                </a:solidFill>
              </a:defRPr>
            </a:pPr>
            <a:r>
              <a:t>• Sophia Gomez: sell.html | sophia.css &amp; sophia.js. Built reactive listing form, live preview data binding, File API reader, and confetti celebration.</a:t>
            </a:r>
          </a:p>
          <a:p>
            <a:pPr>
              <a:spcBef>
                <a:spcPts val="800"/>
              </a:spcBef>
              <a:defRPr sz="1050">
                <a:solidFill>
                  <a:srgbClr val="1C1C1C"/>
                </a:solidFill>
              </a:defRPr>
            </a:pPr>
            <a:r>
              <a:t>• Shared Architecture: main.css &amp; main.js. Developed core design tokens, header/footer navigation, active link tracking, and GitHub repo coordination.</a:t>
            </a:r>
          </a:p>
        </p:txBody>
      </p:sp>
      <p:sp>
        <p:nvSpPr>
          <p:cNvPr id="4" name="Rounded Rectangle 3"/>
          <p:cNvSpPr/>
          <p:nvPr/>
        </p:nvSpPr>
        <p:spPr>
          <a:xfrm>
            <a:off x="6126480" y="1371600"/>
            <a:ext cx="5303520" cy="4846320"/>
          </a:xfrm>
          <a:prstGeom prst="roundRect">
            <a:avLst/>
          </a:prstGeom>
          <a:solidFill>
            <a:srgbClr val="FFFFFF"/>
          </a:solidFill>
          <a:ln w="25400">
            <a:solidFill>
              <a:srgbClr val="800000"/>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600" b="1">
                <a:solidFill>
                  <a:srgbClr val="800000"/>
                </a:solidFill>
              </a:defRPr>
            </a:pPr>
            <a:r>
              <a:t>Key Learnings &amp; Future Roadmap</a:t>
            </a:r>
          </a:p>
          <a:p>
            <a:pPr>
              <a:spcBef>
                <a:spcPts val="1000"/>
              </a:spcBef>
              <a:defRPr sz="1050">
                <a:solidFill>
                  <a:srgbClr val="1C1C1C"/>
                </a:solidFill>
              </a:defRPr>
            </a:pPr>
            <a:r>
              <a:t>• Version Control Collaboration: Coordinating Git branching (isabella-work, sophia-work, main) and resolving merge conflicts taught us professional team development.</a:t>
            </a:r>
          </a:p>
          <a:p>
            <a:pPr>
              <a:spcBef>
                <a:spcPts val="1000"/>
              </a:spcBef>
              <a:defRPr sz="1050">
                <a:solidFill>
                  <a:srgbClr val="1C1C1C"/>
                </a:solidFill>
              </a:defRPr>
            </a:pPr>
            <a:r>
              <a:t>• State Management Without Frameworks: Implementing localStorage allowed us to create a seamless multi-page experience purely with Vanilla JS.</a:t>
            </a:r>
          </a:p>
          <a:p>
            <a:pPr>
              <a:spcBef>
                <a:spcPts val="1000"/>
              </a:spcBef>
              <a:defRPr sz="1050">
                <a:solidFill>
                  <a:srgbClr val="1C1C1C"/>
                </a:solidFill>
              </a:defRPr>
            </a:pPr>
            <a:r>
              <a:t>• Future Enhancement 1 — Backend Database: Connecting the frontend to a Node.js/Express API and MongoDB database for persistent multi-user data across devices.</a:t>
            </a:r>
          </a:p>
          <a:p>
            <a:pPr>
              <a:spcBef>
                <a:spcPts val="1000"/>
              </a:spcBef>
              <a:defRPr sz="1050">
                <a:solidFill>
                  <a:srgbClr val="1C1C1C"/>
                </a:solidFill>
              </a:defRPr>
            </a:pPr>
            <a:r>
              <a:t>• Future Enhancement 2 — UIW SSO Authentication: Restricting accounts strictly to verified @student.uiwtx.edu email credentials.</a:t>
            </a:r>
          </a:p>
          <a:p>
            <a:pPr>
              <a:spcBef>
                <a:spcPts val="1000"/>
              </a:spcBef>
              <a:defRPr sz="1050">
                <a:solidFill>
                  <a:srgbClr val="1C1C1C"/>
                </a:solidFill>
              </a:defRPr>
            </a:pPr>
            <a:r>
              <a:t>• Future Enhancement 3 — Payment Gateway: Integrating Stripe or Venmo campus student payments.</a:t>
            </a:r>
          </a:p>
          <a:p>
            <a:pPr>
              <a:spcBef>
                <a:spcPts val="1600"/>
              </a:spcBef>
              <a:defRPr sz="1400" b="1">
                <a:solidFill>
                  <a:srgbClr val="C8102E"/>
                </a:solidFill>
              </a:defRPr>
            </a:pPr>
            <a:r>
              <a:t>Thank you!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3256</Words>
  <Application>Microsoft Office PowerPoint</Application>
  <PresentationFormat>Widescreen</PresentationFormat>
  <Paragraphs>151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Frausto</dc:creator>
  <cp:lastModifiedBy>Maria Frausto</cp:lastModifiedBy>
  <cp:revision>1</cp:revision>
  <dcterms:created xsi:type="dcterms:W3CDTF">2026-10-28T14:20:59Z</dcterms:created>
  <dcterms:modified xsi:type="dcterms:W3CDTF">2026-10-28T16:49:52Z</dcterms:modified>
</cp:coreProperties>
</file>